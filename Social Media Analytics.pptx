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0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1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D7266"/>
                </a:solidFill>
                <a:latin typeface="Times New Roman"/>
              </a:defRPr>
            </a:pPr>
            <a:r>
              <a:rPr lang="en-IN" sz="1000" b="0" i="0" u="none" strike="noStrike">
                <a:solidFill>
                  <a:srgbClr val="7D7266"/>
                </a:solidFill>
                <a:latin typeface="Times New Roman"/>
              </a:rPr>
              <a:t>TOTAL ACTIVITY (POSTS + COMMENTS), TOP 10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4623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340-F549-BD61-1BBC9E4800BA}"/>
              </c:ext>
            </c:extLst>
          </c:dPt>
          <c:dPt>
            <c:idx val="1"/>
            <c:invertIfNegative val="0"/>
            <c:bubble3D val="0"/>
            <c:spPr>
              <a:solidFill>
                <a:srgbClr val="E0B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40-F549-BD61-1BBC9E4800BA}"/>
              </c:ext>
            </c:extLst>
          </c:dPt>
          <c:dPt>
            <c:idx val="2"/>
            <c:invertIfNegative val="0"/>
            <c:bubble3D val="0"/>
            <c:spPr>
              <a:solidFill>
                <a:srgbClr val="E0B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40-F549-BD61-1BBC9E4800BA}"/>
              </c:ext>
            </c:extLst>
          </c:dPt>
          <c:dPt>
            <c:idx val="3"/>
            <c:invertIfNegative val="0"/>
            <c:bubble3D val="0"/>
            <c:spPr>
              <a:solidFill>
                <a:srgbClr val="E0B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40-F549-BD61-1BBC9E4800BA}"/>
              </c:ext>
            </c:extLst>
          </c:dPt>
          <c:dPt>
            <c:idx val="4"/>
            <c:invertIfNegative val="0"/>
            <c:bubble3D val="0"/>
            <c:spPr>
              <a:solidFill>
                <a:srgbClr val="E0B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40-F549-BD61-1BBC9E4800BA}"/>
              </c:ext>
            </c:extLst>
          </c:dPt>
          <c:dPt>
            <c:idx val="5"/>
            <c:invertIfNegative val="0"/>
            <c:bubble3D val="0"/>
            <c:spPr>
              <a:solidFill>
                <a:srgbClr val="E0B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340-F549-BD61-1BBC9E4800BA}"/>
              </c:ext>
            </c:extLst>
          </c:dPt>
          <c:dPt>
            <c:idx val="6"/>
            <c:invertIfNegative val="0"/>
            <c:bubble3D val="0"/>
            <c:spPr>
              <a:solidFill>
                <a:srgbClr val="E0B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340-F549-BD61-1BBC9E4800BA}"/>
              </c:ext>
            </c:extLst>
          </c:dPt>
          <c:dPt>
            <c:idx val="7"/>
            <c:invertIfNegative val="0"/>
            <c:bubble3D val="0"/>
            <c:spPr>
              <a:solidFill>
                <a:srgbClr val="E0B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340-F549-BD61-1BBC9E4800BA}"/>
              </c:ext>
            </c:extLst>
          </c:dPt>
          <c:dPt>
            <c:idx val="8"/>
            <c:invertIfNegative val="0"/>
            <c:bubble3D val="0"/>
            <c:spPr>
              <a:solidFill>
                <a:srgbClr val="E0B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340-F549-BD61-1BBC9E4800BA}"/>
              </c:ext>
            </c:extLst>
          </c:dPt>
          <c:dPt>
            <c:idx val="9"/>
            <c:invertIfNegative val="0"/>
            <c:bubble3D val="0"/>
            <c:spPr>
              <a:solidFill>
                <a:srgbClr val="E0B1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340-F549-BD61-1BBC9E4800BA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6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whitney74</c:v>
                </c:pt>
                <c:pt idx="1">
                  <c:v>masonhenderson</c:v>
                </c:pt>
                <c:pt idx="2">
                  <c:v>johnjames</c:v>
                </c:pt>
                <c:pt idx="3">
                  <c:v>nathandean</c:v>
                </c:pt>
                <c:pt idx="4">
                  <c:v>rebecca71</c:v>
                </c:pt>
                <c:pt idx="5">
                  <c:v>john37</c:v>
                </c:pt>
                <c:pt idx="6">
                  <c:v>pedrowilson</c:v>
                </c:pt>
                <c:pt idx="7">
                  <c:v>nsantana</c:v>
                </c:pt>
                <c:pt idx="8">
                  <c:v>fergusontimothy</c:v>
                </c:pt>
                <c:pt idx="9">
                  <c:v>amoore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340-F549-BD61-1BBC9E4800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622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D7266"/>
                </a:solidFill>
                <a:latin typeface="Times New Roman"/>
              </a:defRPr>
            </a:pPr>
            <a:r>
              <a:rPr lang="en-IN" sz="1000" b="0" i="0" u="none" strike="noStrike">
                <a:solidFill>
                  <a:srgbClr val="7D7266"/>
                </a:solidFill>
                <a:latin typeface="Times New Roman"/>
              </a:rPr>
              <a:t>LIKES PER TOP POST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Likes</c:v>
                </c:pt>
              </c:strCache>
            </c:strRef>
          </c:tx>
          <c:spPr>
            <a:solidFill>
              <a:srgbClr val="D9A0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634-9641-981F-E43487EE1CA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634-9641-981F-E43487EE1CA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634-9641-981F-E43487EE1CA2}"/>
              </c:ext>
            </c:extLst>
          </c:dPt>
          <c:dPt>
            <c:idx val="3"/>
            <c:invertIfNegative val="0"/>
            <c:bubble3D val="0"/>
            <c:spPr>
              <a:solidFill>
                <a:srgbClr val="E9CD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634-9641-981F-E43487EE1CA2}"/>
              </c:ext>
            </c:extLst>
          </c:dPt>
          <c:dPt>
            <c:idx val="4"/>
            <c:invertIfNegative val="0"/>
            <c:bubble3D val="0"/>
            <c:spPr>
              <a:solidFill>
                <a:srgbClr val="E9CD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634-9641-981F-E43487EE1CA2}"/>
              </c:ext>
            </c:extLst>
          </c:dPt>
          <c:dPt>
            <c:idx val="5"/>
            <c:invertIfNegative val="0"/>
            <c:bubble3D val="0"/>
            <c:spPr>
              <a:solidFill>
                <a:srgbClr val="E9CD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634-9641-981F-E43487EE1CA2}"/>
              </c:ext>
            </c:extLst>
          </c:dPt>
          <c:dPt>
            <c:idx val="6"/>
            <c:invertIfNegative val="0"/>
            <c:bubble3D val="0"/>
            <c:spPr>
              <a:solidFill>
                <a:srgbClr val="E9CD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634-9641-981F-E43487EE1CA2}"/>
              </c:ext>
            </c:extLst>
          </c:dPt>
          <c:dPt>
            <c:idx val="7"/>
            <c:invertIfNegative val="0"/>
            <c:bubble3D val="0"/>
            <c:spPr>
              <a:solidFill>
                <a:srgbClr val="E9CD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634-9641-981F-E43487EE1CA2}"/>
              </c:ext>
            </c:extLst>
          </c:dPt>
          <c:dPt>
            <c:idx val="8"/>
            <c:invertIfNegative val="0"/>
            <c:bubble3D val="0"/>
            <c:spPr>
              <a:solidFill>
                <a:srgbClr val="E9CD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634-9641-981F-E43487EE1CA2}"/>
              </c:ext>
            </c:extLst>
          </c:dPt>
          <c:dPt>
            <c:idx val="9"/>
            <c:invertIfNegative val="0"/>
            <c:bubble3D val="0"/>
            <c:spPr>
              <a:solidFill>
                <a:srgbClr val="E9CD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634-9641-981F-E43487EE1CA2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6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#393 howebryan</c:v>
                </c:pt>
                <c:pt idx="1">
                  <c:v>#694 ktaylor</c:v>
                </c:pt>
                <c:pt idx="2">
                  <c:v>#844 turnermichelle</c:v>
                </c:pt>
                <c:pt idx="3">
                  <c:v>#360 gregory45</c:v>
                </c:pt>
                <c:pt idx="4">
                  <c:v>#430 jimmy12</c:v>
                </c:pt>
                <c:pt idx="5">
                  <c:v>Post #21</c:v>
                </c:pt>
                <c:pt idx="6">
                  <c:v>Post #96</c:v>
                </c:pt>
                <c:pt idx="7">
                  <c:v>Post #105</c:v>
                </c:pt>
                <c:pt idx="8">
                  <c:v>Post #182</c:v>
                </c:pt>
                <c:pt idx="9">
                  <c:v>Post #212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634-9641-981F-E43487EE1C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622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D7266"/>
                </a:solidFill>
                <a:latin typeface="Times New Roman"/>
              </a:defRPr>
            </a:pPr>
            <a:r>
              <a:rPr lang="en-IN" sz="1000" b="0" i="0" u="none" strike="noStrike">
                <a:solidFill>
                  <a:srgbClr val="7D7266"/>
                </a:solidFill>
                <a:latin typeface="Times New Roman"/>
              </a:rPr>
              <a:t>AVERAGE LIKES PER POST, BY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7A84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83-FF46-A70B-2B682A222807}"/>
              </c:ext>
            </c:extLst>
          </c:dPt>
          <c:dPt>
            <c:idx val="1"/>
            <c:invertIfNegative val="0"/>
            <c:bubble3D val="0"/>
            <c:spPr>
              <a:solidFill>
                <a:srgbClr val="BEC0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83-FF46-A70B-2B682A222807}"/>
              </c:ext>
            </c:extLst>
          </c:dPt>
          <c:dPt>
            <c:idx val="2"/>
            <c:invertIfNegative val="0"/>
            <c:bubble3D val="0"/>
            <c:spPr>
              <a:solidFill>
                <a:srgbClr val="BEC0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83-FF46-A70B-2B682A222807}"/>
              </c:ext>
            </c:extLst>
          </c:dPt>
          <c:dPt>
            <c:idx val="3"/>
            <c:invertIfNegative val="0"/>
            <c:bubble3D val="0"/>
            <c:spPr>
              <a:solidFill>
                <a:srgbClr val="BEC0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83-FF46-A70B-2B682A222807}"/>
              </c:ext>
            </c:extLst>
          </c:dPt>
          <c:dPt>
            <c:idx val="4"/>
            <c:invertIfNegative val="0"/>
            <c:bubble3D val="0"/>
            <c:spPr>
              <a:solidFill>
                <a:srgbClr val="BEC0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83-FF46-A70B-2B682A222807}"/>
              </c:ext>
            </c:extLst>
          </c:dPt>
          <c:dPt>
            <c:idx val="5"/>
            <c:invertIfNegative val="0"/>
            <c:bubble3D val="0"/>
            <c:spPr>
              <a:solidFill>
                <a:srgbClr val="BEC0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D83-FF46-A70B-2B682A222807}"/>
              </c:ext>
            </c:extLst>
          </c:dPt>
          <c:dPt>
            <c:idx val="6"/>
            <c:invertIfNegative val="0"/>
            <c:bubble3D val="0"/>
            <c:spPr>
              <a:solidFill>
                <a:srgbClr val="BEC0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D83-FF46-A70B-2B682A222807}"/>
              </c:ext>
            </c:extLst>
          </c:dPt>
          <c:dPt>
            <c:idx val="7"/>
            <c:invertIfNegative val="0"/>
            <c:bubble3D val="0"/>
            <c:spPr>
              <a:solidFill>
                <a:srgbClr val="BEC0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D83-FF46-A70B-2B682A222807}"/>
              </c:ext>
            </c:extLst>
          </c:dPt>
          <c:dPt>
            <c:idx val="8"/>
            <c:invertIfNegative val="0"/>
            <c:bubble3D val="0"/>
            <c:spPr>
              <a:solidFill>
                <a:srgbClr val="BEC0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D83-FF46-A70B-2B682A222807}"/>
              </c:ext>
            </c:extLst>
          </c:dPt>
          <c:dPt>
            <c:idx val="9"/>
            <c:invertIfNegative val="0"/>
            <c:bubble3D val="0"/>
            <c:spPr>
              <a:solidFill>
                <a:srgbClr val="BEC0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D83-FF46-A70B-2B682A22280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6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Mexico</c:v>
                </c:pt>
                <c:pt idx="1">
                  <c:v>Malta</c:v>
                </c:pt>
                <c:pt idx="2">
                  <c:v>Bahrain</c:v>
                </c:pt>
                <c:pt idx="3">
                  <c:v>Uzbekistan</c:v>
                </c:pt>
                <c:pt idx="4">
                  <c:v>Western Sahara</c:v>
                </c:pt>
                <c:pt idx="5">
                  <c:v>Belarus</c:v>
                </c:pt>
                <c:pt idx="6">
                  <c:v>Zimbabwe</c:v>
                </c:pt>
                <c:pt idx="7">
                  <c:v>United States Virgin Islands</c:v>
                </c:pt>
                <c:pt idx="8">
                  <c:v>Tunisia</c:v>
                </c:pt>
                <c:pt idx="9">
                  <c:v>Tanzania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2.5</c:v>
                </c:pt>
                <c:pt idx="2">
                  <c:v>2.5</c:v>
                </c:pt>
                <c:pt idx="3">
                  <c:v>2.33</c:v>
                </c:pt>
                <c:pt idx="4">
                  <c:v>2.25</c:v>
                </c:pt>
                <c:pt idx="5">
                  <c:v>2.25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D83-FF46-A70B-2B682A2228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622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D7266"/>
                </a:solidFill>
                <a:latin typeface="Times New Roman"/>
              </a:defRPr>
            </a:pPr>
            <a:r>
              <a:rPr lang="en-IN" sz="1000" b="0" i="0" u="none" strike="noStrike">
                <a:solidFill>
                  <a:srgbClr val="7D7266"/>
                </a:solidFill>
                <a:latin typeface="Times New Roman"/>
              </a:rPr>
              <a:t>POSTS USING EACH HASHTAG (&gt;5 POSTS)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6E3B5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11-F54D-B6E3-8CD121EE40DD}"/>
              </c:ext>
            </c:extLst>
          </c:dPt>
          <c:dPt>
            <c:idx val="1"/>
            <c:invertIfNegative val="0"/>
            <c:bubble3D val="0"/>
            <c:spPr>
              <a:solidFill>
                <a:srgbClr val="B99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11-F54D-B6E3-8CD121EE40DD}"/>
              </c:ext>
            </c:extLst>
          </c:dPt>
          <c:dPt>
            <c:idx val="2"/>
            <c:invertIfNegative val="0"/>
            <c:bubble3D val="0"/>
            <c:spPr>
              <a:solidFill>
                <a:srgbClr val="B99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11-F54D-B6E3-8CD121EE40DD}"/>
              </c:ext>
            </c:extLst>
          </c:dPt>
          <c:dPt>
            <c:idx val="3"/>
            <c:invertIfNegative val="0"/>
            <c:bubble3D val="0"/>
            <c:spPr>
              <a:solidFill>
                <a:srgbClr val="B99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11-F54D-B6E3-8CD121EE40DD}"/>
              </c:ext>
            </c:extLst>
          </c:dPt>
          <c:dPt>
            <c:idx val="4"/>
            <c:invertIfNegative val="0"/>
            <c:bubble3D val="0"/>
            <c:spPr>
              <a:solidFill>
                <a:srgbClr val="B99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111-F54D-B6E3-8CD121EE40DD}"/>
              </c:ext>
            </c:extLst>
          </c:dPt>
          <c:dPt>
            <c:idx val="5"/>
            <c:invertIfNegative val="0"/>
            <c:bubble3D val="0"/>
            <c:spPr>
              <a:solidFill>
                <a:srgbClr val="B99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111-F54D-B6E3-8CD121EE40DD}"/>
              </c:ext>
            </c:extLst>
          </c:dPt>
          <c:dPt>
            <c:idx val="6"/>
            <c:invertIfNegative val="0"/>
            <c:bubble3D val="0"/>
            <c:spPr>
              <a:solidFill>
                <a:srgbClr val="B99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111-F54D-B6E3-8CD121EE40DD}"/>
              </c:ext>
            </c:extLst>
          </c:dPt>
          <c:dPt>
            <c:idx val="7"/>
            <c:invertIfNegative val="0"/>
            <c:bubble3D val="0"/>
            <c:spPr>
              <a:solidFill>
                <a:srgbClr val="B99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111-F54D-B6E3-8CD121EE40DD}"/>
              </c:ext>
            </c:extLst>
          </c:dPt>
          <c:dPt>
            <c:idx val="8"/>
            <c:invertIfNegative val="0"/>
            <c:bubble3D val="0"/>
            <c:spPr>
              <a:solidFill>
                <a:srgbClr val="B99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111-F54D-B6E3-8CD121EE40DD}"/>
              </c:ext>
            </c:extLst>
          </c:dPt>
          <c:dPt>
            <c:idx val="9"/>
            <c:invertIfNegative val="0"/>
            <c:bubble3D val="0"/>
            <c:spPr>
              <a:solidFill>
                <a:srgbClr val="B99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111-F54D-B6E3-8CD121EE40DD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6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#year</c:v>
                </c:pt>
                <c:pt idx="1">
                  <c:v>#so</c:v>
                </c:pt>
                <c:pt idx="2">
                  <c:v>#population</c:v>
                </c:pt>
                <c:pt idx="3">
                  <c:v>#identify</c:v>
                </c:pt>
                <c:pt idx="4">
                  <c:v>#law</c:v>
                </c:pt>
                <c:pt idx="5">
                  <c:v>#history</c:v>
                </c:pt>
                <c:pt idx="6">
                  <c:v>#worker</c:v>
                </c:pt>
                <c:pt idx="7">
                  <c:v>#what</c:v>
                </c:pt>
                <c:pt idx="8">
                  <c:v>#simply</c:v>
                </c:pt>
                <c:pt idx="9">
                  <c:v>#recognize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111-F54D-B6E3-8CD121EE40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622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D7266"/>
                </a:solidFill>
                <a:latin typeface="Times New Roman"/>
              </a:defRPr>
            </a:pPr>
            <a:r>
              <a:rPr lang="en-IN" sz="1000" b="0" i="0" u="none" strike="noStrike">
                <a:solidFill>
                  <a:srgbClr val="7D7266"/>
                </a:solidFill>
                <a:latin typeface="Times New Roman"/>
              </a:rPr>
              <a:t>FOLLOWER COUNT, TOP 10 USERS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Followers</c:v>
                </c:pt>
              </c:strCache>
            </c:strRef>
          </c:tx>
          <c:spPr>
            <a:solidFill>
              <a:srgbClr val="3F7D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44-3249-9F5B-307131BD3B54}"/>
              </c:ext>
            </c:extLst>
          </c:dPt>
          <c:dPt>
            <c:idx val="1"/>
            <c:invertIfNegative val="0"/>
            <c:bubble3D val="0"/>
            <c:spPr>
              <a:solidFill>
                <a:srgbClr val="A4BD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44-3249-9F5B-307131BD3B54}"/>
              </c:ext>
            </c:extLst>
          </c:dPt>
          <c:dPt>
            <c:idx val="2"/>
            <c:invertIfNegative val="0"/>
            <c:bubble3D val="0"/>
            <c:spPr>
              <a:solidFill>
                <a:srgbClr val="A4BD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44-3249-9F5B-307131BD3B54}"/>
              </c:ext>
            </c:extLst>
          </c:dPt>
          <c:dPt>
            <c:idx val="3"/>
            <c:invertIfNegative val="0"/>
            <c:bubble3D val="0"/>
            <c:spPr>
              <a:solidFill>
                <a:srgbClr val="A4BD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44-3249-9F5B-307131BD3B54}"/>
              </c:ext>
            </c:extLst>
          </c:dPt>
          <c:dPt>
            <c:idx val="4"/>
            <c:invertIfNegative val="0"/>
            <c:bubble3D val="0"/>
            <c:spPr>
              <a:solidFill>
                <a:srgbClr val="A4BD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44-3249-9F5B-307131BD3B54}"/>
              </c:ext>
            </c:extLst>
          </c:dPt>
          <c:dPt>
            <c:idx val="5"/>
            <c:invertIfNegative val="0"/>
            <c:bubble3D val="0"/>
            <c:spPr>
              <a:solidFill>
                <a:srgbClr val="A4BD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944-3249-9F5B-307131BD3B54}"/>
              </c:ext>
            </c:extLst>
          </c:dPt>
          <c:dPt>
            <c:idx val="6"/>
            <c:invertIfNegative val="0"/>
            <c:bubble3D val="0"/>
            <c:spPr>
              <a:solidFill>
                <a:srgbClr val="A4BD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944-3249-9F5B-307131BD3B54}"/>
              </c:ext>
            </c:extLst>
          </c:dPt>
          <c:dPt>
            <c:idx val="7"/>
            <c:invertIfNegative val="0"/>
            <c:bubble3D val="0"/>
            <c:spPr>
              <a:solidFill>
                <a:srgbClr val="A4BD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944-3249-9F5B-307131BD3B54}"/>
              </c:ext>
            </c:extLst>
          </c:dPt>
          <c:dPt>
            <c:idx val="8"/>
            <c:invertIfNegative val="0"/>
            <c:bubble3D val="0"/>
            <c:spPr>
              <a:solidFill>
                <a:srgbClr val="A4BD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944-3249-9F5B-307131BD3B54}"/>
              </c:ext>
            </c:extLst>
          </c:dPt>
          <c:dPt>
            <c:idx val="9"/>
            <c:invertIfNegative val="0"/>
            <c:bubble3D val="0"/>
            <c:spPr>
              <a:solidFill>
                <a:srgbClr val="A4BD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944-3249-9F5B-307131BD3B54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6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vthomas (Kazakhstan)</c:v>
                </c:pt>
                <c:pt idx="1">
                  <c:v>christy26 (Botswana)</c:v>
                </c:pt>
                <c:pt idx="2">
                  <c:v>corey63 (Gambia)</c:v>
                </c:pt>
                <c:pt idx="3">
                  <c:v>taylorcynthia (Montserrat)</c:v>
                </c:pt>
                <c:pt idx="4">
                  <c:v>jamiegreen (Fiji)</c:v>
                </c:pt>
                <c:pt idx="5">
                  <c:v>ngonzalez</c:v>
                </c:pt>
                <c:pt idx="6">
                  <c:v>rmurillo</c:v>
                </c:pt>
                <c:pt idx="7">
                  <c:v>shirleylester</c:v>
                </c:pt>
                <c:pt idx="8">
                  <c:v>perezjason</c:v>
                </c:pt>
                <c:pt idx="9">
                  <c:v>whitechristopher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944-3249-9F5B-307131BD3B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622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2727A"/>
              </a:solidFill>
              <a:ln w="25400" cap="flat">
                <a:solidFill>
                  <a:srgbClr val="F1DFD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7C6E-BC48-8714-8306F5E40711}"/>
              </c:ext>
            </c:extLst>
          </c:dPt>
          <c:dPt>
            <c:idx val="1"/>
            <c:bubble3D val="0"/>
            <c:spPr>
              <a:solidFill>
                <a:srgbClr val="E6B8B6"/>
              </a:solidFill>
              <a:ln w="25400" cap="flat">
                <a:solidFill>
                  <a:srgbClr val="F1DFD8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C6E-BC48-8714-8306F5E40711}"/>
              </c:ext>
            </c:extLst>
          </c:dPt>
          <c:cat>
            <c:strRef>
              <c:f>Sheet1!$A$2:$A$3</c:f>
              <c:strCache>
                <c:ptCount val="2"/>
                <c:pt idx="0">
                  <c:v>never liked or commented</c:v>
                </c:pt>
                <c:pt idx="1">
                  <c:v>also liked or commented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6E-BC48-8714-8306F5E407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D7266"/>
                </a:solidFill>
                <a:latin typeface="Times New Roman"/>
              </a:defRPr>
            </a:pPr>
            <a:r>
              <a:rPr lang="en-IN" sz="1000" b="0" i="0" u="none" strike="noStrike">
                <a:solidFill>
                  <a:srgbClr val="7D7266"/>
                </a:solidFill>
                <a:latin typeface="Times New Roman"/>
              </a:rPr>
              <a:t>LIKES VS. COMMENTS, TOP 10 HASHTAGS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Likes</c:v>
                </c:pt>
              </c:strCache>
            </c:strRef>
          </c:tx>
          <c:spPr>
            <a:solidFill>
              <a:srgbClr val="B5763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6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#year</c:v>
                </c:pt>
                <c:pt idx="1">
                  <c:v>#identify</c:v>
                </c:pt>
                <c:pt idx="2">
                  <c:v>#simply</c:v>
                </c:pt>
                <c:pt idx="3">
                  <c:v>#population</c:v>
                </c:pt>
                <c:pt idx="4">
                  <c:v>#worker</c:v>
                </c:pt>
                <c:pt idx="5">
                  <c:v>#teach</c:v>
                </c:pt>
                <c:pt idx="6">
                  <c:v>#history</c:v>
                </c:pt>
                <c:pt idx="7">
                  <c:v>#operation</c:v>
                </c:pt>
                <c:pt idx="8">
                  <c:v>#wonder</c:v>
                </c:pt>
                <c:pt idx="9">
                  <c:v>#way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</c:v>
                </c:pt>
                <c:pt idx="1">
                  <c:v>11</c:v>
                </c:pt>
                <c:pt idx="2">
                  <c:v>9</c:v>
                </c:pt>
                <c:pt idx="3">
                  <c:v>10</c:v>
                </c:pt>
                <c:pt idx="4">
                  <c:v>10</c:v>
                </c:pt>
                <c:pt idx="5">
                  <c:v>12</c:v>
                </c:pt>
                <c:pt idx="6">
                  <c:v>11</c:v>
                </c:pt>
                <c:pt idx="7">
                  <c:v>8</c:v>
                </c:pt>
                <c:pt idx="8">
                  <c:v>4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4E-8A47-80A6-353CC79576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Comments</c:v>
                </c:pt>
              </c:strCache>
            </c:strRef>
          </c:tx>
          <c:spPr>
            <a:solidFill>
              <a:srgbClr val="E0A83A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B26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#year</c:v>
                </c:pt>
                <c:pt idx="1">
                  <c:v>#identify</c:v>
                </c:pt>
                <c:pt idx="2">
                  <c:v>#simply</c:v>
                </c:pt>
                <c:pt idx="3">
                  <c:v>#population</c:v>
                </c:pt>
                <c:pt idx="4">
                  <c:v>#worker</c:v>
                </c:pt>
                <c:pt idx="5">
                  <c:v>#teach</c:v>
                </c:pt>
                <c:pt idx="6">
                  <c:v>#history</c:v>
                </c:pt>
                <c:pt idx="7">
                  <c:v>#operation</c:v>
                </c:pt>
                <c:pt idx="8">
                  <c:v>#wonder</c:v>
                </c:pt>
                <c:pt idx="9">
                  <c:v>#way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7</c:v>
                </c:pt>
                <c:pt idx="5">
                  <c:v>5</c:v>
                </c:pt>
                <c:pt idx="6">
                  <c:v>4</c:v>
                </c:pt>
                <c:pt idx="7">
                  <c:v>6</c:v>
                </c:pt>
                <c:pt idx="8">
                  <c:v>9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4E-8A47-80A6-353CC79576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622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622"/>
              </a:solidFill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D7266"/>
                </a:solidFill>
                <a:latin typeface="Times New Roman"/>
              </a:defRPr>
            </a:pPr>
            <a:r>
              <a:rPr lang="en-IN" sz="1000" b="0" i="0" u="none" strike="noStrike">
                <a:solidFill>
                  <a:srgbClr val="7D7266"/>
                </a:solidFill>
                <a:latin typeface="Times New Roman"/>
              </a:rPr>
              <a:t>POSTS BY HOUR OF DAY (00–23)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BEAEB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B4B-8C43-81B8-8B8502F9E94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B4B-8C43-81B8-8B8502F9E94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B4B-8C43-81B8-8B8502F9E946}"/>
              </c:ext>
            </c:extLst>
          </c:dPt>
          <c:dPt>
            <c:idx val="3"/>
            <c:invertIfNegative val="0"/>
            <c:bubble3D val="0"/>
            <c:spPr>
              <a:solidFill>
                <a:srgbClr val="7A5C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B4B-8C43-81B8-8B8502F9E94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B4B-8C43-81B8-8B8502F9E946}"/>
              </c:ext>
            </c:extLst>
          </c:dPt>
          <c:dPt>
            <c:idx val="5"/>
            <c:invertIfNegative val="0"/>
            <c:bubble3D val="0"/>
            <c:spPr>
              <a:solidFill>
                <a:srgbClr val="7A5C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B4B-8C43-81B8-8B8502F9E946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B4B-8C43-81B8-8B8502F9E946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EB4B-8C43-81B8-8B8502F9E946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EB4B-8C43-81B8-8B8502F9E946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EB4B-8C43-81B8-8B8502F9E946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EB4B-8C43-81B8-8B8502F9E946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EB4B-8C43-81B8-8B8502F9E946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EB4B-8C43-81B8-8B8502F9E946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EB4B-8C43-81B8-8B8502F9E946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EB4B-8C43-81B8-8B8502F9E946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EB4B-8C43-81B8-8B8502F9E946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EB4B-8C43-81B8-8B8502F9E946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EB4B-8C43-81B8-8B8502F9E946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EB4B-8C43-81B8-8B8502F9E946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EB4B-8C43-81B8-8B8502F9E946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9-EB4B-8C43-81B8-8B8502F9E946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B-EB4B-8C43-81B8-8B8502F9E946}"/>
              </c:ext>
            </c:extLst>
          </c:dPt>
          <c:dPt>
            <c:idx val="22"/>
            <c:invertIfNegative val="0"/>
            <c:bubble3D val="0"/>
            <c:spPr>
              <a:solidFill>
                <a:srgbClr val="7A5C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D-EB4B-8C43-81B8-8B8502F9E946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F-EB4B-8C43-81B8-8B8502F9E9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B26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00</c:v>
                </c:pt>
                <c:pt idx="1">
                  <c:v>01</c:v>
                </c:pt>
                <c:pt idx="2">
                  <c:v>02</c:v>
                </c:pt>
                <c:pt idx="3">
                  <c:v>03</c:v>
                </c:pt>
                <c:pt idx="4">
                  <c:v>04</c:v>
                </c:pt>
                <c:pt idx="5">
                  <c:v>05</c:v>
                </c:pt>
                <c:pt idx="6">
                  <c:v>06</c:v>
                </c:pt>
                <c:pt idx="7">
                  <c:v>07</c:v>
                </c:pt>
                <c:pt idx="8">
                  <c:v>08</c:v>
                </c:pt>
                <c:pt idx="9">
                  <c:v>09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46</c:v>
                </c:pt>
                <c:pt idx="1">
                  <c:v>34</c:v>
                </c:pt>
                <c:pt idx="2">
                  <c:v>35</c:v>
                </c:pt>
                <c:pt idx="3">
                  <c:v>53</c:v>
                </c:pt>
                <c:pt idx="4">
                  <c:v>41</c:v>
                </c:pt>
                <c:pt idx="5">
                  <c:v>54</c:v>
                </c:pt>
                <c:pt idx="6">
                  <c:v>45</c:v>
                </c:pt>
                <c:pt idx="7">
                  <c:v>44</c:v>
                </c:pt>
                <c:pt idx="8">
                  <c:v>35</c:v>
                </c:pt>
                <c:pt idx="9">
                  <c:v>39</c:v>
                </c:pt>
                <c:pt idx="10">
                  <c:v>27</c:v>
                </c:pt>
                <c:pt idx="11">
                  <c:v>37</c:v>
                </c:pt>
                <c:pt idx="12">
                  <c:v>40</c:v>
                </c:pt>
                <c:pt idx="13">
                  <c:v>40</c:v>
                </c:pt>
                <c:pt idx="14">
                  <c:v>47</c:v>
                </c:pt>
                <c:pt idx="15">
                  <c:v>41</c:v>
                </c:pt>
                <c:pt idx="16">
                  <c:v>45</c:v>
                </c:pt>
                <c:pt idx="17">
                  <c:v>39</c:v>
                </c:pt>
                <c:pt idx="18">
                  <c:v>45</c:v>
                </c:pt>
                <c:pt idx="19">
                  <c:v>42</c:v>
                </c:pt>
                <c:pt idx="20">
                  <c:v>42</c:v>
                </c:pt>
                <c:pt idx="21">
                  <c:v>40</c:v>
                </c:pt>
                <c:pt idx="22">
                  <c:v>52</c:v>
                </c:pt>
                <c:pt idx="23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EB4B-8C43-81B8-8B8502F9E9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2622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D7266"/>
                </a:solidFill>
                <a:latin typeface="Times New Roman"/>
              </a:defRPr>
            </a:pPr>
            <a:r>
              <a:rPr lang="en-IN" sz="1000" b="0" i="0" u="none" strike="noStrike">
                <a:solidFill>
                  <a:srgbClr val="7D7266"/>
                </a:solidFill>
                <a:latin typeface="Times New Roman"/>
              </a:rPr>
              <a:t>POSTS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7A5C8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61-414D-91EE-4A141109D3B5}"/>
              </c:ext>
            </c:extLst>
          </c:dPt>
          <c:dPt>
            <c:idx val="1"/>
            <c:invertIfNegative val="0"/>
            <c:bubble3D val="0"/>
            <c:spPr>
              <a:solidFill>
                <a:srgbClr val="BEAE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61-414D-91EE-4A141109D3B5}"/>
              </c:ext>
            </c:extLst>
          </c:dPt>
          <c:dPt>
            <c:idx val="2"/>
            <c:invertIfNegative val="0"/>
            <c:bubble3D val="0"/>
            <c:spPr>
              <a:solidFill>
                <a:srgbClr val="BEAE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61-414D-91EE-4A141109D3B5}"/>
              </c:ext>
            </c:extLst>
          </c:dPt>
          <c:dPt>
            <c:idx val="3"/>
            <c:invertIfNegative val="0"/>
            <c:bubble3D val="0"/>
            <c:spPr>
              <a:solidFill>
                <a:srgbClr val="BEAE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61-414D-91EE-4A141109D3B5}"/>
              </c:ext>
            </c:extLst>
          </c:dPt>
          <c:dPt>
            <c:idx val="4"/>
            <c:invertIfNegative val="0"/>
            <c:bubble3D val="0"/>
            <c:spPr>
              <a:solidFill>
                <a:srgbClr val="BEAE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61-414D-91EE-4A141109D3B5}"/>
              </c:ext>
            </c:extLst>
          </c:dPt>
          <c:dPt>
            <c:idx val="5"/>
            <c:invertIfNegative val="0"/>
            <c:bubble3D val="0"/>
            <c:spPr>
              <a:solidFill>
                <a:srgbClr val="BEAE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661-414D-91EE-4A141109D3B5}"/>
              </c:ext>
            </c:extLst>
          </c:dPt>
          <c:dPt>
            <c:idx val="6"/>
            <c:invertIfNegative val="0"/>
            <c:bubble3D val="0"/>
            <c:spPr>
              <a:solidFill>
                <a:srgbClr val="BEAE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661-414D-91EE-4A141109D3B5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6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Tue</c:v>
                </c:pt>
                <c:pt idx="1">
                  <c:v>Sat</c:v>
                </c:pt>
                <c:pt idx="2">
                  <c:v>Mon</c:v>
                </c:pt>
                <c:pt idx="3">
                  <c:v>Wed</c:v>
                </c:pt>
                <c:pt idx="4">
                  <c:v>Fri</c:v>
                </c:pt>
                <c:pt idx="5">
                  <c:v>Thu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153</c:v>
                </c:pt>
                <c:pt idx="1">
                  <c:v>151</c:v>
                </c:pt>
                <c:pt idx="2">
                  <c:v>150</c:v>
                </c:pt>
                <c:pt idx="3">
                  <c:v>140</c:v>
                </c:pt>
                <c:pt idx="4">
                  <c:v>138</c:v>
                </c:pt>
                <c:pt idx="5">
                  <c:v>136</c:v>
                </c:pt>
                <c:pt idx="6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661-414D-91EE-4A141109D3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622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F8A8B"/>
              </a:solidFill>
              <a:ln w="25400" cap="flat">
                <a:solidFill>
                  <a:srgbClr val="E1E3DA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64D-B841-9C4B-0A7D6CCC03CC}"/>
              </c:ext>
            </c:extLst>
          </c:dPt>
          <c:dPt>
            <c:idx val="1"/>
            <c:bubble3D val="0"/>
            <c:spPr>
              <a:solidFill>
                <a:srgbClr val="B2C3BE"/>
              </a:solidFill>
              <a:ln w="25400" cap="flat">
                <a:solidFill>
                  <a:srgbClr val="E1E3DA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64D-B841-9C4B-0A7D6CCC03CC}"/>
              </c:ext>
            </c:extLst>
          </c:dPt>
          <c:cat>
            <c:strRef>
              <c:f>Sheet1!$A$2:$A$3</c:f>
              <c:strCache>
                <c:ptCount val="2"/>
                <c:pt idx="0">
                  <c:v>users with zero posts, likes or comments</c:v>
                </c:pt>
                <c:pt idx="1">
                  <c:v>users with some activity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953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4D-B841-9C4B-0A7D6CCC03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D7266"/>
                </a:solidFill>
                <a:latin typeface="Times New Roman"/>
              </a:defRPr>
            </a:pPr>
            <a:r>
              <a:rPr lang="en-IN" sz="1000" b="0" i="0" u="none" strike="noStrike">
                <a:solidFill>
                  <a:srgbClr val="7D7266"/>
                </a:solidFill>
                <a:latin typeface="Times New Roman"/>
              </a:rPr>
              <a:t>INFLUENCERS PER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Influencers</c:v>
                </c:pt>
              </c:strCache>
            </c:strRef>
          </c:tx>
          <c:spPr>
            <a:solidFill>
              <a:srgbClr val="B842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16-E14B-BD7E-04CC87BA254B}"/>
              </c:ext>
            </c:extLst>
          </c:dPt>
          <c:dPt>
            <c:idx val="1"/>
            <c:invertIfNegative val="0"/>
            <c:bubble3D val="0"/>
            <c:spPr>
              <a:solidFill>
                <a:srgbClr val="DAA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16-E14B-BD7E-04CC87BA254B}"/>
              </c:ext>
            </c:extLst>
          </c:dPt>
          <c:dPt>
            <c:idx val="2"/>
            <c:invertIfNegative val="0"/>
            <c:bubble3D val="0"/>
            <c:spPr>
              <a:solidFill>
                <a:srgbClr val="DAA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D16-E14B-BD7E-04CC87BA254B}"/>
              </c:ext>
            </c:extLst>
          </c:dPt>
          <c:dPt>
            <c:idx val="3"/>
            <c:invertIfNegative val="0"/>
            <c:bubble3D val="0"/>
            <c:spPr>
              <a:solidFill>
                <a:srgbClr val="DAA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D16-E14B-BD7E-04CC87BA254B}"/>
              </c:ext>
            </c:extLst>
          </c:dPt>
          <c:dPt>
            <c:idx val="4"/>
            <c:invertIfNegative val="0"/>
            <c:bubble3D val="0"/>
            <c:spPr>
              <a:solidFill>
                <a:srgbClr val="DAA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D16-E14B-BD7E-04CC87BA254B}"/>
              </c:ext>
            </c:extLst>
          </c:dPt>
          <c:dPt>
            <c:idx val="5"/>
            <c:invertIfNegative val="0"/>
            <c:bubble3D val="0"/>
            <c:spPr>
              <a:solidFill>
                <a:srgbClr val="DAA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D16-E14B-BD7E-04CC87BA254B}"/>
              </c:ext>
            </c:extLst>
          </c:dPt>
          <c:dPt>
            <c:idx val="6"/>
            <c:invertIfNegative val="0"/>
            <c:bubble3D val="0"/>
            <c:spPr>
              <a:solidFill>
                <a:srgbClr val="DAA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D16-E14B-BD7E-04CC87BA254B}"/>
              </c:ext>
            </c:extLst>
          </c:dPt>
          <c:dPt>
            <c:idx val="7"/>
            <c:invertIfNegative val="0"/>
            <c:bubble3D val="0"/>
            <c:spPr>
              <a:solidFill>
                <a:srgbClr val="DAA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D16-E14B-BD7E-04CC87BA254B}"/>
              </c:ext>
            </c:extLst>
          </c:dPt>
          <c:dPt>
            <c:idx val="8"/>
            <c:invertIfNegative val="0"/>
            <c:bubble3D val="0"/>
            <c:spPr>
              <a:solidFill>
                <a:srgbClr val="DAA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D16-E14B-BD7E-04CC87BA254B}"/>
              </c:ext>
            </c:extLst>
          </c:dPt>
          <c:dPt>
            <c:idx val="9"/>
            <c:invertIfNegative val="0"/>
            <c:bubble3D val="0"/>
            <c:spPr>
              <a:solidFill>
                <a:srgbClr val="DAA2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D16-E14B-BD7E-04CC87BA254B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6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Gambia</c:v>
                </c:pt>
                <c:pt idx="1">
                  <c:v>French Polynesia</c:v>
                </c:pt>
                <c:pt idx="2">
                  <c:v>Spain</c:v>
                </c:pt>
                <c:pt idx="3">
                  <c:v>Iraq</c:v>
                </c:pt>
                <c:pt idx="4">
                  <c:v>Burkina Faso</c:v>
                </c:pt>
                <c:pt idx="5">
                  <c:v>Russian Federation</c:v>
                </c:pt>
                <c:pt idx="6">
                  <c:v>Gabon</c:v>
                </c:pt>
                <c:pt idx="7">
                  <c:v>Brunei Darussalam</c:v>
                </c:pt>
                <c:pt idx="8">
                  <c:v>Brazil</c:v>
                </c:pt>
                <c:pt idx="9">
                  <c:v>Seychelles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D16-E14B-BD7E-04CC87BA25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622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71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13" Type="http://schemas.openxmlformats.org/officeDocument/2006/relationships/slide" Target="slide20.xml"/><Relationship Id="rId3" Type="http://schemas.openxmlformats.org/officeDocument/2006/relationships/slide" Target="slide2.xml"/><Relationship Id="rId7" Type="http://schemas.openxmlformats.org/officeDocument/2006/relationships/slide" Target="slide8.xml"/><Relationship Id="rId12" Type="http://schemas.openxmlformats.org/officeDocument/2006/relationships/slide" Target="slide1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6.xml"/><Relationship Id="rId5" Type="http://schemas.openxmlformats.org/officeDocument/2006/relationships/slide" Target="slide4.xml"/><Relationship Id="rId15" Type="http://schemas.openxmlformats.org/officeDocument/2006/relationships/slide" Target="slide24.xml"/><Relationship Id="rId10" Type="http://schemas.openxmlformats.org/officeDocument/2006/relationships/slide" Target="slide14.xml"/><Relationship Id="rId4" Type="http://schemas.openxmlformats.org/officeDocument/2006/relationships/image" Target="../media/image1.png"/><Relationship Id="rId9" Type="http://schemas.openxmlformats.org/officeDocument/2006/relationships/slide" Target="slide12.xml"/><Relationship Id="rId14" Type="http://schemas.openxmlformats.org/officeDocument/2006/relationships/slide" Target="slide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24.xml"/><Relationship Id="rId3" Type="http://schemas.openxmlformats.org/officeDocument/2006/relationships/slide" Target="slide6.xml"/><Relationship Id="rId7" Type="http://schemas.openxmlformats.org/officeDocument/2006/relationships/slide" Target="slide12.xml"/><Relationship Id="rId12" Type="http://schemas.openxmlformats.org/officeDocument/2006/relationships/slide" Target="slide22.xml"/><Relationship Id="rId17" Type="http://schemas.openxmlformats.org/officeDocument/2006/relationships/slide" Target="slide29.xml"/><Relationship Id="rId2" Type="http://schemas.openxmlformats.org/officeDocument/2006/relationships/notesSlide" Target="../notesSlides/notesSlide4.xml"/><Relationship Id="rId16" Type="http://schemas.openxmlformats.org/officeDocument/2006/relationships/slide" Target="slide2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11" Type="http://schemas.openxmlformats.org/officeDocument/2006/relationships/slide" Target="slide20.xml"/><Relationship Id="rId5" Type="http://schemas.openxmlformats.org/officeDocument/2006/relationships/slide" Target="slide8.xml"/><Relationship Id="rId15" Type="http://schemas.openxmlformats.org/officeDocument/2006/relationships/slide" Target="slide27.xml"/><Relationship Id="rId10" Type="http://schemas.openxmlformats.org/officeDocument/2006/relationships/slide" Target="slide18.xml"/><Relationship Id="rId4" Type="http://schemas.openxmlformats.org/officeDocument/2006/relationships/image" Target="../media/image1.png"/><Relationship Id="rId9" Type="http://schemas.openxmlformats.org/officeDocument/2006/relationships/slide" Target="slide16.xml"/><Relationship Id="rId14" Type="http://schemas.openxmlformats.org/officeDocument/2006/relationships/slide" Target="slide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6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8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7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slide" Target="slide20.xml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2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1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7" Type="http://schemas.openxmlformats.org/officeDocument/2006/relationships/chart" Target="../charts/chart10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4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3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5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7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8.xml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7.xml"/><Relationship Id="rId7" Type="http://schemas.openxmlformats.org/officeDocument/2006/relationships/slide" Target="slide17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9.xml"/><Relationship Id="rId4" Type="http://schemas.openxmlformats.org/officeDocument/2006/relationships/image" Target="../media/image1.png"/><Relationship Id="rId9" Type="http://schemas.openxmlformats.org/officeDocument/2006/relationships/slide" Target="slide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DATA ANALYTICS PROJECT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Media Analytics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user behaviour, engagement, and growth through SQL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 users   ·   1,000 posts   ·   241 countries   ·   10 SQL questions + 4 bonus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LMS SQL + GenAI Mini Project   |   Dataset: Social_Media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2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 →  Questions  →  SQL  →  Results  →  Visualisation  →  Insights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1110996" cy="310896"/>
          </a:xfrm>
          <a:prstGeom prst="rect">
            <a:avLst/>
          </a:prstGeom>
          <a:solidFill>
            <a:srgbClr val="A65A3C"/>
          </a:solidFill>
          <a:ln w="12700">
            <a:solidFill>
              <a:srgbClr val="A65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349240"/>
            <a:ext cx="1110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→</a:t>
            </a:r>
            <a:endParaRPr lang="en-US" sz="1100" dirty="0"/>
          </a:p>
        </p:txBody>
      </p:sp>
      <p:pic>
        <p:nvPicPr>
          <p:cNvPr id="10" name="Image 0" descr="preencoded.png">
            <a:hlinkClick r:id="rId3" action="ppaction://hlinksldjump" tooltip="Star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49240"/>
            <a:ext cx="1110996" cy="3108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25396" y="5349240"/>
            <a:ext cx="171907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25396" y="534924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dashboard</a:t>
            </a:r>
            <a:endParaRPr lang="en-US" sz="1100" dirty="0"/>
          </a:p>
        </p:txBody>
      </p:sp>
      <p:pic>
        <p:nvPicPr>
          <p:cNvPr id="13" name="Image 1" descr="preencoded.png">
            <a:hlinkClick r:id="rId5" action="ppaction://hlinksldjump" tooltip="Open 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396" y="5349240"/>
            <a:ext cx="1719072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2960" y="960120"/>
            <a:ext cx="292608" cy="292608"/>
          </a:xfrm>
          <a:prstGeom prst="rect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</p:sp>
      <p:pic>
        <p:nvPicPr>
          <p:cNvPr id="15" name="Image 2" descr="preencoded.png">
            <a:hlinkClick r:id="rId6" action="ppaction://hlinksldjump" tooltip="Question 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960120"/>
            <a:ext cx="292608" cy="2926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207008" y="960120"/>
            <a:ext cx="292608" cy="292608"/>
          </a:xfrm>
          <a:prstGeom prst="rect">
            <a:avLst/>
          </a:prstGeom>
          <a:solidFill>
            <a:srgbClr val="D9A02B"/>
          </a:solidFill>
          <a:ln w="12700">
            <a:solidFill>
              <a:srgbClr val="D9A02B"/>
            </a:solidFill>
            <a:prstDash val="solid"/>
          </a:ln>
        </p:spPr>
      </p:sp>
      <p:pic>
        <p:nvPicPr>
          <p:cNvPr id="17" name="Image 3" descr="preencoded.png">
            <a:hlinkClick r:id="rId7" action="ppaction://hlinksldjump" tooltip="Question 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960120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591056" y="960120"/>
            <a:ext cx="292608" cy="292608"/>
          </a:xfrm>
          <a:prstGeom prst="rect">
            <a:avLst/>
          </a:prstGeom>
          <a:solidFill>
            <a:srgbClr val="7A8450"/>
          </a:solidFill>
          <a:ln w="12700">
            <a:solidFill>
              <a:srgbClr val="7A8450"/>
            </a:solidFill>
            <a:prstDash val="solid"/>
          </a:ln>
        </p:spPr>
      </p:sp>
      <p:pic>
        <p:nvPicPr>
          <p:cNvPr id="19" name="Image 4" descr="preencoded.png">
            <a:hlinkClick r:id="rId8" action="ppaction://hlinksldjump" tooltip="Question 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56" y="960120"/>
            <a:ext cx="292608" cy="29260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975104" y="960120"/>
            <a:ext cx="292608" cy="292608"/>
          </a:xfrm>
          <a:prstGeom prst="rect">
            <a:avLst/>
          </a:prstGeom>
          <a:solidFill>
            <a:srgbClr val="6E3B54"/>
          </a:solidFill>
          <a:ln w="12700">
            <a:solidFill>
              <a:srgbClr val="6E3B54"/>
            </a:solidFill>
            <a:prstDash val="solid"/>
          </a:ln>
        </p:spPr>
      </p:sp>
      <p:pic>
        <p:nvPicPr>
          <p:cNvPr id="21" name="Image 5" descr="preencoded.png">
            <a:hlinkClick r:id="rId9" action="ppaction://hlinksldjump" tooltip="Question 4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960120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2359152" y="960120"/>
            <a:ext cx="292608" cy="292608"/>
          </a:xfrm>
          <a:prstGeom prst="rect">
            <a:avLst/>
          </a:prstGeom>
          <a:solidFill>
            <a:srgbClr val="3F7D6B"/>
          </a:solidFill>
          <a:ln w="12700">
            <a:solidFill>
              <a:srgbClr val="3F7D6B"/>
            </a:solidFill>
            <a:prstDash val="solid"/>
          </a:ln>
        </p:spPr>
      </p:sp>
      <p:pic>
        <p:nvPicPr>
          <p:cNvPr id="23" name="Image 6" descr="preencoded.png">
            <a:hlinkClick r:id="rId10" action="ppaction://hlinksldjump" tooltip="Question 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152" y="960120"/>
            <a:ext cx="292608" cy="29260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2743200" y="960120"/>
            <a:ext cx="292608" cy="292608"/>
          </a:xfrm>
          <a:prstGeom prst="rect">
            <a:avLst/>
          </a:prstGeom>
          <a:solidFill>
            <a:srgbClr val="D2727A"/>
          </a:solidFill>
          <a:ln w="12700">
            <a:solidFill>
              <a:srgbClr val="D2727A"/>
            </a:solidFill>
            <a:prstDash val="solid"/>
          </a:ln>
        </p:spPr>
      </p:sp>
      <p:pic>
        <p:nvPicPr>
          <p:cNvPr id="25" name="Image 7" descr="preencoded.png">
            <a:hlinkClick r:id="rId11" action="ppaction://hlinksldjump" tooltip="Question 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960120"/>
            <a:ext cx="292608" cy="292608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3127248" y="960120"/>
            <a:ext cx="292608" cy="292608"/>
          </a:xfrm>
          <a:prstGeom prst="rect">
            <a:avLst/>
          </a:prstGeom>
          <a:solidFill>
            <a:srgbClr val="B5763A"/>
          </a:solidFill>
          <a:ln w="12700">
            <a:solidFill>
              <a:srgbClr val="B5763A"/>
            </a:solidFill>
            <a:prstDash val="solid"/>
          </a:ln>
        </p:spPr>
      </p:sp>
      <p:pic>
        <p:nvPicPr>
          <p:cNvPr id="27" name="Image 8" descr="preencoded.png">
            <a:hlinkClick r:id="rId12" action="ppaction://hlinksldjump" tooltip="Question 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960120"/>
            <a:ext cx="292608" cy="292608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3511296" y="960120"/>
            <a:ext cx="292608" cy="292608"/>
          </a:xfrm>
          <a:prstGeom prst="rect">
            <a:avLst/>
          </a:prstGeom>
          <a:solidFill>
            <a:srgbClr val="7A5C8E"/>
          </a:solidFill>
          <a:ln w="12700">
            <a:solidFill>
              <a:srgbClr val="7A5C8E"/>
            </a:solidFill>
            <a:prstDash val="solid"/>
          </a:ln>
        </p:spPr>
      </p:sp>
      <p:pic>
        <p:nvPicPr>
          <p:cNvPr id="29" name="Image 9" descr="preencoded.png">
            <a:hlinkClick r:id="rId13" action="ppaction://hlinksldjump" tooltip="Question 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960120"/>
            <a:ext cx="292608" cy="292608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3895344" y="960120"/>
            <a:ext cx="292608" cy="292608"/>
          </a:xfrm>
          <a:prstGeom prst="rect">
            <a:avLst/>
          </a:prstGeom>
          <a:solidFill>
            <a:srgbClr val="5F8A8B"/>
          </a:solidFill>
          <a:ln w="12700">
            <a:solidFill>
              <a:srgbClr val="5F8A8B"/>
            </a:solidFill>
            <a:prstDash val="solid"/>
          </a:ln>
        </p:spPr>
      </p:sp>
      <p:pic>
        <p:nvPicPr>
          <p:cNvPr id="31" name="Image 10" descr="preencoded.png">
            <a:hlinkClick r:id="rId14" action="ppaction://hlinksldjump" tooltip="Question 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960120"/>
            <a:ext cx="292608" cy="292608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4279392" y="960120"/>
            <a:ext cx="292608" cy="292608"/>
          </a:xfrm>
          <a:prstGeom prst="rect">
            <a:avLst/>
          </a:prstGeom>
          <a:solidFill>
            <a:srgbClr val="B8425A"/>
          </a:solidFill>
          <a:ln w="12700">
            <a:solidFill>
              <a:srgbClr val="B8425A"/>
            </a:solidFill>
            <a:prstDash val="solid"/>
          </a:ln>
        </p:spPr>
      </p:sp>
      <p:pic>
        <p:nvPicPr>
          <p:cNvPr id="33" name="Image 11" descr="preencoded.png">
            <a:hlinkClick r:id="rId15" action="ppaction://hlinksldjump" tooltip="Question 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960120"/>
            <a:ext cx="292608" cy="292608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822960" y="1325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colour per question. </a:t>
            </a:r>
            <a:endParaRPr lang="en-US" sz="10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 analysed and why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760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project. </a:t>
            </a:r>
            <a:r>
              <a:rPr lang="en-US" sz="15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Social_Media database models a social platform: users create posts, receive likes and comments, follow one another, and tag posts with hashtags. Seven related tables capture the full engagement lifecycle.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objective. </a:t>
            </a:r>
            <a:r>
              <a:rPr lang="en-US" sz="15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SQL to answer ten analytical questions on user activity, engagement, hashtags, posting times, followers and countries, then read the insights from each result.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scope. </a:t>
            </a:r>
            <a:r>
              <a:rPr lang="en-US" sz="15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 core questions plus four bonus questions, each with its query, output and insight.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9264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C462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949440" y="2286000"/>
            <a:ext cx="4663440" cy="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23591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92640" y="23591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D9A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949440" y="2907792"/>
            <a:ext cx="4663440" cy="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29809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0" y="29809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7A84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949440" y="3529584"/>
            <a:ext cx="4663440" cy="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360273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Likes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360273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6E3B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949440" y="4151376"/>
            <a:ext cx="4663440" cy="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4224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 relationships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3F7D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949440" y="4773168"/>
            <a:ext cx="4663440" cy="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4846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Countries represented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4846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D27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241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949440" y="5394960"/>
            <a:ext cx="4663440" cy="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5623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40012" y="365760"/>
            <a:ext cx="1024128" cy="310896"/>
          </a:xfrm>
          <a:prstGeom prst="rect">
            <a:avLst/>
          </a:prstGeom>
          <a:solidFill>
            <a:srgbClr val="A65A3C"/>
          </a:solidFill>
          <a:ln w="12700">
            <a:solidFill>
              <a:srgbClr val="A65A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40012" y="36576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→</a:t>
            </a:r>
            <a:endParaRPr lang="en-US" sz="1100" dirty="0"/>
          </a:p>
        </p:txBody>
      </p:sp>
      <p:pic>
        <p:nvPicPr>
          <p:cNvPr id="26" name="Image 0" descr="preencoded.png">
            <a:hlinkClick r:id="rId3" action="ppaction://hlinksldjump" tooltip="Nex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012" y="365760"/>
            <a:ext cx="1024128" cy="310896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1035558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5558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29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80" y="365760"/>
            <a:ext cx="1284732" cy="31089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SCHEMA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Seven tables, one hub: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77440" cy="1143000"/>
          </a:xfrm>
          <a:prstGeom prst="rect">
            <a:avLst/>
          </a:prstGeom>
          <a:solidFill>
            <a:srgbClr val="EFE7D9"/>
          </a:solidFill>
          <a:ln w="12700">
            <a:solidFill>
              <a:srgbClr val="CDBFA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comments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comment_id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post_id, user_id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comment_text, created_at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1508760"/>
            <a:ext cx="2377440" cy="1143000"/>
          </a:xfrm>
          <a:prstGeom prst="rect">
            <a:avLst/>
          </a:prstGeom>
          <a:solidFill>
            <a:srgbClr val="EFE7D9"/>
          </a:solidFill>
          <a:ln w="12700">
            <a:solidFill>
              <a:srgbClr val="CDBFA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002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posts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post_id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user_id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content, created_at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2377440" cy="1143000"/>
          </a:xfrm>
          <a:prstGeom prst="rect">
            <a:avLst/>
          </a:prstGeom>
          <a:solidFill>
            <a:srgbClr val="EFE7D9"/>
          </a:solidFill>
          <a:ln w="12700">
            <a:solidFill>
              <a:srgbClr val="CDBF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6002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post_hashtags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post_id, hashtag_id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89720" y="1508760"/>
            <a:ext cx="2377440" cy="1143000"/>
          </a:xfrm>
          <a:prstGeom prst="rect">
            <a:avLst/>
          </a:prstGeom>
          <a:solidFill>
            <a:srgbClr val="EFE7D9"/>
          </a:solidFill>
          <a:ln w="12700">
            <a:solidFill>
              <a:srgbClr val="CDBFA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0" y="16002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hashtags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hashtag_id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tag_name, category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2377440" cy="1143000"/>
          </a:xfrm>
          <a:prstGeom prst="rect">
            <a:avLst/>
          </a:prstGeom>
          <a:solidFill>
            <a:srgbClr val="EFE7D9"/>
          </a:solidFill>
          <a:ln w="12700">
            <a:solidFill>
              <a:srgbClr val="CDBFA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118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likes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like_id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post_id, user_id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3520440"/>
            <a:ext cx="2377440" cy="114300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36118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A2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user_id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join_date, country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520440"/>
            <a:ext cx="2377440" cy="1143000"/>
          </a:xfrm>
          <a:prstGeom prst="rect">
            <a:avLst/>
          </a:prstGeom>
          <a:solidFill>
            <a:srgbClr val="EFE7D9"/>
          </a:solidFill>
          <a:ln w="12700">
            <a:solidFill>
              <a:srgbClr val="CDBF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36118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followers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follower_id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user_id, follower_user_id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follow_date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0" y="2080260"/>
            <a:ext cx="502920" cy="0"/>
          </a:xfrm>
          <a:prstGeom prst="line">
            <a:avLst/>
          </a:prstGeom>
          <a:noFill/>
          <a:ln w="15875">
            <a:solidFill>
              <a:srgbClr val="7D72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2080260"/>
            <a:ext cx="502920" cy="0"/>
          </a:xfrm>
          <a:prstGeom prst="line">
            <a:avLst/>
          </a:prstGeom>
          <a:noFill/>
          <a:ln w="15875">
            <a:solidFill>
              <a:srgbClr val="7D72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2080260"/>
            <a:ext cx="502920" cy="0"/>
          </a:xfrm>
          <a:prstGeom prst="line">
            <a:avLst/>
          </a:prstGeom>
          <a:noFill/>
          <a:ln w="15875">
            <a:solidFill>
              <a:srgbClr val="7D72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651760"/>
            <a:ext cx="0" cy="868680"/>
          </a:xfrm>
          <a:prstGeom prst="line">
            <a:avLst/>
          </a:prstGeom>
          <a:noFill/>
          <a:ln w="15875">
            <a:solidFill>
              <a:srgbClr val="7D72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4091940"/>
            <a:ext cx="502920" cy="0"/>
          </a:xfrm>
          <a:prstGeom prst="line">
            <a:avLst/>
          </a:prstGeom>
          <a:noFill/>
          <a:ln w="15875">
            <a:solidFill>
              <a:srgbClr val="7D72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4091940"/>
            <a:ext cx="502920" cy="0"/>
          </a:xfrm>
          <a:prstGeom prst="line">
            <a:avLst/>
          </a:prstGeom>
          <a:noFill/>
          <a:ln w="15875">
            <a:solidFill>
              <a:srgbClr val="7D72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FOREIGN KEYS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66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posts.user_id → users.user_id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94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comments.post_id → posts.post_id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23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comments.user_id → users.user_id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5166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likes.post_id → posts.post_id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5394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likes.user_id → users.user_id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931920" y="5623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followers.user_id → users.user_id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51663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followers.follower_user_id → users.user_id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5394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post_hashtags.post_id → posts.post_id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56235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6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post_hashtags.hashtag_id → hashtags.hashtag_id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500616" y="365760"/>
            <a:ext cx="1024128" cy="310896"/>
          </a:xfrm>
          <a:prstGeom prst="rect">
            <a:avLst/>
          </a:prstGeom>
          <a:solidFill>
            <a:srgbClr val="A65A3C"/>
          </a:solidFill>
          <a:ln w="12700">
            <a:solidFill>
              <a:srgbClr val="A65A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00616" y="36576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→</a:t>
            </a:r>
            <a:endParaRPr lang="en-US" sz="1100" dirty="0"/>
          </a:p>
        </p:txBody>
      </p:sp>
      <p:pic>
        <p:nvPicPr>
          <p:cNvPr id="37" name="Image 0" descr="preencoded.png">
            <a:hlinkClick r:id="rId3" action="ppaction://hlinksldjump" tooltip="Nex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365760"/>
            <a:ext cx="1024128" cy="310896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10616184" y="365760"/>
            <a:ext cx="1024128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616184" y="36576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Back</a:t>
            </a:r>
            <a:endParaRPr lang="en-US" sz="1100" dirty="0"/>
          </a:p>
        </p:txBody>
      </p:sp>
      <p:pic>
        <p:nvPicPr>
          <p:cNvPr id="40" name="Image 1" descr="preencoded.png">
            <a:hlinkClick r:id="rId5" action="ppaction://hlinksldjump" tooltip="← Back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184" y="365760"/>
            <a:ext cx="1024128" cy="310896"/>
          </a:xfrm>
          <a:prstGeom prst="rect">
            <a:avLst/>
          </a:prstGeom>
        </p:spPr>
      </p:pic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 questions, four bonus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Click any tile to jump to its SQL.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103120" cy="1783080"/>
          </a:xfrm>
          <a:prstGeom prst="rect">
            <a:avLst/>
          </a:prstGeom>
          <a:solidFill>
            <a:srgbClr val="E8C9B8"/>
          </a:solidFill>
          <a:ln w="9525">
            <a:solidFill>
              <a:srgbClr val="DDAA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9164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9E53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Active Users</a:t>
            </a:r>
            <a:endParaRPr lang="en-US" sz="3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51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posts + comments per user</a:t>
            </a:r>
            <a:endParaRPr lang="en-US" sz="3000" dirty="0"/>
          </a:p>
        </p:txBody>
      </p:sp>
      <p:pic>
        <p:nvPicPr>
          <p:cNvPr id="7" name="Image 0" descr="preencoded.png">
            <a:hlinkClick r:id="rId3" action="ppaction://hlinksldjump" tooltip="Question 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2103120" cy="1783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88920" y="1554480"/>
            <a:ext cx="2103120" cy="1783080"/>
          </a:xfrm>
          <a:prstGeom prst="rect">
            <a:avLst/>
          </a:prstGeom>
          <a:solidFill>
            <a:srgbClr val="EEDAB2"/>
          </a:solidFill>
          <a:ln w="9525">
            <a:solidFill>
              <a:srgbClr val="E8C98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53512" y="169164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AE82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Liked Posts</a:t>
            </a:r>
            <a:endParaRPr lang="en-US" sz="3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51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posts by like count</a:t>
            </a:r>
            <a:endParaRPr lang="en-US" sz="3000" dirty="0"/>
          </a:p>
        </p:txBody>
      </p:sp>
      <p:pic>
        <p:nvPicPr>
          <p:cNvPr id="10" name="Image 1" descr="preencoded.png">
            <a:hlinkClick r:id="rId5" action="ppaction://hlinksldjump" tooltip="Question 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554480"/>
            <a:ext cx="2103120" cy="1783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0" y="1554480"/>
            <a:ext cx="2103120" cy="1783080"/>
          </a:xfrm>
          <a:prstGeom prst="rect">
            <a:avLst/>
          </a:prstGeom>
          <a:solidFill>
            <a:srgbClr val="D3D2BD"/>
          </a:solidFill>
          <a:ln w="9525">
            <a:solidFill>
              <a:srgbClr val="B8BB9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93792" y="169164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666D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Countries by Engagement</a:t>
            </a:r>
            <a:endParaRPr lang="en-US" sz="3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51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likes per post</a:t>
            </a:r>
            <a:endParaRPr lang="en-US" sz="3000" dirty="0"/>
          </a:p>
        </p:txBody>
      </p:sp>
      <p:pic>
        <p:nvPicPr>
          <p:cNvPr id="13" name="Image 2" descr="preencoded.png">
            <a:hlinkClick r:id="rId6" action="ppaction://hlinksldjump" tooltip="Question 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54480"/>
            <a:ext cx="2103120" cy="17830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269480" y="1554480"/>
            <a:ext cx="2103120" cy="1783080"/>
          </a:xfrm>
          <a:prstGeom prst="rect">
            <a:avLst/>
          </a:prstGeom>
          <a:solidFill>
            <a:srgbClr val="D0BEBE"/>
          </a:solidFill>
          <a:ln w="9525">
            <a:solidFill>
              <a:srgbClr val="B2969E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434072" y="169164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D36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3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Trending Hashtags</a:t>
            </a:r>
            <a:endParaRPr lang="en-US" sz="3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51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most-used tags</a:t>
            </a:r>
            <a:endParaRPr lang="en-US" sz="3000" dirty="0"/>
          </a:p>
        </p:txBody>
      </p:sp>
      <p:pic>
        <p:nvPicPr>
          <p:cNvPr id="16" name="Image 3" descr="preencoded.png">
            <a:hlinkClick r:id="rId7" action="ppaction://hlinksldjump" tooltip="Question 4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554480"/>
            <a:ext cx="2103120" cy="17830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509760" y="1554480"/>
            <a:ext cx="2103120" cy="1783080"/>
          </a:xfrm>
          <a:prstGeom prst="rect">
            <a:avLst/>
          </a:prstGeom>
          <a:solidFill>
            <a:srgbClr val="C3D1C4"/>
          </a:solidFill>
          <a:ln w="9525">
            <a:solidFill>
              <a:srgbClr val="9BB7A9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9674352" y="169164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3A67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3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Influencers</a:t>
            </a:r>
            <a:endParaRPr lang="en-US" sz="3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51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most-followed users</a:t>
            </a:r>
            <a:endParaRPr lang="en-US" sz="3000" dirty="0"/>
          </a:p>
        </p:txBody>
      </p:sp>
      <p:pic>
        <p:nvPicPr>
          <p:cNvPr id="19" name="Image 4" descr="preencoded.png">
            <a:hlinkClick r:id="rId8" action="ppaction://hlinksldjump" tooltip="Question 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554480"/>
            <a:ext cx="2103120" cy="178308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48640" y="3474720"/>
            <a:ext cx="2103120" cy="1783080"/>
          </a:xfrm>
          <a:prstGeom prst="rect">
            <a:avLst/>
          </a:prstGeom>
          <a:solidFill>
            <a:srgbClr val="ECCDC8"/>
          </a:solidFill>
          <a:ln w="9525">
            <a:solidFill>
              <a:srgbClr val="E4B2B1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13232" y="36118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A85F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3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Silent Followers</a:t>
            </a:r>
            <a:endParaRPr lang="en-US" sz="3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51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 but never engage</a:t>
            </a:r>
            <a:endParaRPr lang="en-US" sz="3000" dirty="0"/>
          </a:p>
        </p:txBody>
      </p:sp>
      <p:pic>
        <p:nvPicPr>
          <p:cNvPr id="22" name="Image 5" descr="preencoded.png">
            <a:hlinkClick r:id="rId9" action="ppaction://hlinksldjump" tooltip="Question 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74720"/>
            <a:ext cx="2103120" cy="17830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2788920" y="3474720"/>
            <a:ext cx="2103120" cy="1783080"/>
          </a:xfrm>
          <a:prstGeom prst="rect">
            <a:avLst/>
          </a:prstGeom>
          <a:solidFill>
            <a:srgbClr val="E4CFB7"/>
          </a:solidFill>
          <a:ln w="9525">
            <a:solidFill>
              <a:srgbClr val="D6B491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2953512" y="36118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93623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3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Hashtag Engagement</a:t>
            </a:r>
            <a:endParaRPr lang="en-US" sz="3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51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likes + comments by tag</a:t>
            </a:r>
            <a:endParaRPr lang="en-US" sz="3000" dirty="0"/>
          </a:p>
        </p:txBody>
      </p:sp>
      <p:pic>
        <p:nvPicPr>
          <p:cNvPr id="25" name="Image 6" descr="preencoded.png">
            <a:hlinkClick r:id="rId10" action="ppaction://hlinksldjump" tooltip="Question 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474720"/>
            <a:ext cx="2103120" cy="178308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5029200" y="3474720"/>
            <a:ext cx="2103120" cy="1783080"/>
          </a:xfrm>
          <a:prstGeom prst="rect">
            <a:avLst/>
          </a:prstGeom>
          <a:solidFill>
            <a:srgbClr val="D3C7CE"/>
          </a:solidFill>
          <a:ln w="9525">
            <a:solidFill>
              <a:srgbClr val="B8A7BB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5193792" y="36118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664F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3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Busiest Posting Times</a:t>
            </a:r>
            <a:endParaRPr lang="en-US" sz="3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51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peak hours and weekdays</a:t>
            </a:r>
            <a:endParaRPr lang="en-US" sz="3000" dirty="0"/>
          </a:p>
        </p:txBody>
      </p:sp>
      <p:pic>
        <p:nvPicPr>
          <p:cNvPr id="28" name="Image 7" descr="preencoded.png">
            <a:hlinkClick r:id="rId11" action="ppaction://hlinksldjump" tooltip="Question 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74720"/>
            <a:ext cx="2103120" cy="178308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269480" y="3474720"/>
            <a:ext cx="2103120" cy="1783080"/>
          </a:xfrm>
          <a:prstGeom prst="rect">
            <a:avLst/>
          </a:prstGeom>
          <a:solidFill>
            <a:srgbClr val="CCD4CD"/>
          </a:solidFill>
          <a:ln w="9525">
            <a:solidFill>
              <a:srgbClr val="ABBEB9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7434072" y="36118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2717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3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Inactive Users</a:t>
            </a:r>
            <a:endParaRPr lang="en-US" sz="3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51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posts, likes, comments</a:t>
            </a:r>
            <a:endParaRPr lang="en-US" sz="3000" dirty="0"/>
          </a:p>
        </p:txBody>
      </p:sp>
      <p:pic>
        <p:nvPicPr>
          <p:cNvPr id="31" name="Image 8" descr="preencoded.png">
            <a:hlinkClick r:id="rId12" action="ppaction://hlinksldjump" tooltip="Question 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3474720"/>
            <a:ext cx="2103120" cy="178308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9509760" y="3474720"/>
            <a:ext cx="2103120" cy="1783080"/>
          </a:xfrm>
          <a:prstGeom prst="rect">
            <a:avLst/>
          </a:prstGeom>
          <a:solidFill>
            <a:srgbClr val="E5C0C0"/>
          </a:solidFill>
          <a:ln w="9525">
            <a:solidFill>
              <a:srgbClr val="D79AA1"/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9674352" y="361188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953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3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Countries by Influencers</a:t>
            </a:r>
            <a:endParaRPr lang="en-US" sz="3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51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influencers per country</a:t>
            </a:r>
            <a:endParaRPr lang="en-US" sz="3000" dirty="0"/>
          </a:p>
        </p:txBody>
      </p:sp>
      <p:pic>
        <p:nvPicPr>
          <p:cNvPr id="34" name="Image 9" descr="preencoded.png">
            <a:hlinkClick r:id="rId13" action="ppaction://hlinksldjump" tooltip="Question 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3474720"/>
            <a:ext cx="2103120" cy="1783080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548640" y="5440680"/>
            <a:ext cx="2697480" cy="777240"/>
          </a:xfrm>
          <a:prstGeom prst="rect">
            <a:avLst/>
          </a:prstGeom>
          <a:solidFill>
            <a:srgbClr val="E8DECD"/>
          </a:solidFill>
          <a:ln w="9525">
            <a:solidFill>
              <a:srgbClr val="CDBFAD"/>
            </a:solidFill>
            <a:prstDash val="solid"/>
          </a:ln>
        </p:spPr>
      </p:sp>
      <p:sp>
        <p:nvSpPr>
          <p:cNvPr id="36" name="Text 24"/>
          <p:cNvSpPr txBox="1"/>
          <p:nvPr/>
        </p:nvSpPr>
        <p:spPr>
          <a:xfrm>
            <a:off x="713232" y="5532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BONUS 1</a:t>
            </a:r>
            <a:endParaRPr lang="en-US" sz="9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Engagement Rate</a:t>
            </a:r>
            <a:endParaRPr lang="en-US" sz="900" dirty="0"/>
          </a:p>
        </p:txBody>
      </p:sp>
      <p:pic>
        <p:nvPicPr>
          <p:cNvPr id="37" name="Image 10" descr="preencoded.png">
            <a:hlinkClick r:id="rId14" action="ppaction://hlinksldjump" tooltip="Bonus 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40680"/>
            <a:ext cx="2697480" cy="777240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3337560" y="5440680"/>
            <a:ext cx="2697480" cy="777240"/>
          </a:xfrm>
          <a:prstGeom prst="rect">
            <a:avLst/>
          </a:prstGeom>
          <a:solidFill>
            <a:srgbClr val="E8DECD"/>
          </a:solidFill>
          <a:ln w="9525">
            <a:solidFill>
              <a:srgbClr val="CDBFAD"/>
            </a:solidFill>
            <a:prstDash val="solid"/>
          </a:ln>
        </p:spPr>
      </p:sp>
      <p:sp>
        <p:nvSpPr>
          <p:cNvPr id="39" name="Text 26"/>
          <p:cNvSpPr txBox="1"/>
          <p:nvPr/>
        </p:nvSpPr>
        <p:spPr>
          <a:xfrm>
            <a:off x="3502152" y="5532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BONUS 2</a:t>
            </a:r>
            <a:endParaRPr lang="en-US" sz="9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Mutual Followers</a:t>
            </a:r>
            <a:endParaRPr lang="en-US" sz="900" dirty="0"/>
          </a:p>
        </p:txBody>
      </p:sp>
      <p:pic>
        <p:nvPicPr>
          <p:cNvPr id="40" name="Image 11" descr="preencoded.png">
            <a:hlinkClick r:id="rId15" action="ppaction://hlinksldjump" tooltip="Bonus 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5440680"/>
            <a:ext cx="2697480" cy="777240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6126480" y="5440680"/>
            <a:ext cx="2697480" cy="777240"/>
          </a:xfrm>
          <a:prstGeom prst="rect">
            <a:avLst/>
          </a:prstGeom>
          <a:solidFill>
            <a:srgbClr val="E8DECD"/>
          </a:solidFill>
          <a:ln w="9525">
            <a:solidFill>
              <a:srgbClr val="CDBFAD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6291072" y="5532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BONUS 3</a:t>
            </a:r>
            <a:endParaRPr lang="en-US" sz="9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Hashtags of Top 5 Influencers</a:t>
            </a:r>
            <a:endParaRPr lang="en-US" sz="900" dirty="0"/>
          </a:p>
        </p:txBody>
      </p:sp>
      <p:pic>
        <p:nvPicPr>
          <p:cNvPr id="43" name="Image 12" descr="preencoded.png">
            <a:hlinkClick r:id="rId16" action="ppaction://hlinksldjump" tooltip="Bonus 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440680"/>
            <a:ext cx="2697480" cy="777240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8915400" y="5440680"/>
            <a:ext cx="2697480" cy="777240"/>
          </a:xfrm>
          <a:prstGeom prst="rect">
            <a:avLst/>
          </a:prstGeom>
          <a:solidFill>
            <a:srgbClr val="E8DECD"/>
          </a:solidFill>
          <a:ln w="9525">
            <a:solidFill>
              <a:srgbClr val="CDBFAD"/>
            </a:solidFill>
            <a:prstDash val="solid"/>
          </a:ln>
        </p:spPr>
      </p:sp>
      <p:sp>
        <p:nvSpPr>
          <p:cNvPr id="45" name="Text 30"/>
          <p:cNvSpPr txBox="1"/>
          <p:nvPr/>
        </p:nvSpPr>
        <p:spPr>
          <a:xfrm>
            <a:off x="9079992" y="5532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BONUS 4</a:t>
            </a:r>
            <a:endParaRPr lang="en-US" sz="9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Country Engagement Leaderboard</a:t>
            </a:r>
            <a:endParaRPr lang="en-US" sz="900" dirty="0"/>
          </a:p>
        </p:txBody>
      </p:sp>
      <p:pic>
        <p:nvPicPr>
          <p:cNvPr id="46" name="Image 13" descr="preencoded.png">
            <a:hlinkClick r:id="rId17" action="ppaction://hlinksldjump" tooltip="Bonus 4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5440680"/>
            <a:ext cx="2697480" cy="777240"/>
          </a:xfrm>
          <a:prstGeom prst="rect">
            <a:avLst/>
          </a:prstGeom>
        </p:spPr>
      </p:pic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question at a time.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each: the question, the SQL, the result, and what it tells us.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754880"/>
            <a:ext cx="2500884" cy="310896"/>
          </a:xfrm>
          <a:prstGeom prst="rect">
            <a:avLst/>
          </a:prstGeom>
          <a:solidFill>
            <a:srgbClr val="A65A3C"/>
          </a:solidFill>
          <a:ln w="12700">
            <a:solidFill>
              <a:srgbClr val="A65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754880"/>
            <a:ext cx="25008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with Question 1 →</a:t>
            </a:r>
            <a:endParaRPr lang="en-US" sz="1100" dirty="0"/>
          </a:p>
        </p:txBody>
      </p:sp>
      <p:pic>
        <p:nvPicPr>
          <p:cNvPr id="7" name="Image 0" descr="preencoded.png">
            <a:hlinkClick r:id="rId3" action="ppaction://hlinksldjump" tooltip="Start with Question 1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54880"/>
            <a:ext cx="2500884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DD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1 OF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C462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Active Users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the top 10 users based on combined number of posts and comments.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LEFT JOIN keeps users with zero activity. Joining posts and comments together multiplies rows, so COUNT(DISTINCT) keeps each post and comment counted once.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 u.username,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total_posts,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total_comments,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 +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total_activity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p.user_id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 c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c.user_id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 u.username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total_activity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result →</a:t>
            </a:r>
            <a:endParaRPr lang="en-US" sz="1100" dirty="0"/>
          </a:p>
        </p:txBody>
      </p:sp>
      <p:pic>
        <p:nvPicPr>
          <p:cNvPr id="14" name="Image 0" descr="preencoded.png">
            <a:hlinkClick r:id="rId3" action="ppaction://hlinksldjump" tooltip="View resul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632204" cy="3108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6035040"/>
            <a:ext cx="1284732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0" name="Image 2" descr="preencoded.png">
            <a:hlinkClick r:id="rId5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DD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SQL</a:t>
            </a:r>
            <a:endParaRPr lang="en-US" sz="1100" dirty="0"/>
          </a:p>
        </p:txBody>
      </p:sp>
      <p:pic>
        <p:nvPicPr>
          <p:cNvPr id="4" name="Image 0" descr="preencoded.png">
            <a:hlinkClick r:id="rId3" action="ppaction://hlinksldjump" tooltip="← SQ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365760"/>
            <a:ext cx="9372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5760"/>
            <a:ext cx="1284732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question →</a:t>
            </a:r>
            <a:endParaRPr lang="en-US" sz="1100" dirty="0"/>
          </a:p>
        </p:txBody>
      </p:sp>
      <p:pic>
        <p:nvPicPr>
          <p:cNvPr id="10" name="Image 2" descr="preencoded.png">
            <a:hlinkClick r:id="rId6" action="ppaction://hlinksldjump" tooltip="Next question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365760"/>
            <a:ext cx="1805940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1  ·  RESULT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Active Users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6675120" y="1463040"/>
            <a:ext cx="0" cy="484632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graphicFrame>
        <p:nvGraphicFramePr>
          <p:cNvPr id="14" name="Chart 0"/>
          <p:cNvGraphicFramePr/>
          <p:nvPr/>
        </p:nvGraphicFramePr>
        <p:xfrm>
          <a:off x="548640" y="1417320"/>
          <a:ext cx="59436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694944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462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5400" dirty="0"/>
          </a:p>
        </p:txBody>
      </p:sp>
      <p:sp>
        <p:nvSpPr>
          <p:cNvPr id="16" name="Text 10"/>
          <p:cNvSpPr txBox="1"/>
          <p:nvPr/>
        </p:nvSpPr>
        <p:spPr>
          <a:xfrm>
            <a:off x="694944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combined actions by whitney74 (3 posts + 6 comments)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788920"/>
          <a:ext cx="4663440" cy="158953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COMMENTS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whitney74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masonhenderson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johnjames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nathandean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rebecca71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6949440" y="4724081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active: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whitney74, 9 actions (3 posts + 6 comments).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masonhenderson posts the most (6)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 has only 1 comment.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users tie at 6: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at the top is evenly spread, with no "super user".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6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2 OF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D9A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Liked Posts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the posts with the maximum likes, along with the creator’s username.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JOIN attaches the creator to each post; LEFT JOIN to likes keeps posts with zero likes at a count of 0. GROUP BY post gives one count per post.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p.post_id, u.username,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COUNT(l.like_id)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total_likes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p.user_id = u.user_id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 l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l.post_id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p.post_id, u.username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total_likes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solidFill>
            <a:srgbClr val="D9A02B"/>
          </a:solidFill>
          <a:ln w="12700">
            <a:solidFill>
              <a:srgbClr val="D9A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result →</a:t>
            </a:r>
            <a:endParaRPr lang="en-US" sz="1100" dirty="0"/>
          </a:p>
        </p:txBody>
      </p:sp>
      <p:pic>
        <p:nvPicPr>
          <p:cNvPr id="14" name="Image 0" descr="preencoded.png">
            <a:hlinkClick r:id="rId3" action="ppaction://hlinksldjump" tooltip="View resul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632204" cy="3108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6035040"/>
            <a:ext cx="1284732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0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6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SQL</a:t>
            </a:r>
            <a:endParaRPr lang="en-US" sz="1100" dirty="0"/>
          </a:p>
        </p:txBody>
      </p:sp>
      <p:pic>
        <p:nvPicPr>
          <p:cNvPr id="4" name="Image 0" descr="preencoded.png">
            <a:hlinkClick r:id="rId3" action="ppaction://hlinksldjump" tooltip="← SQ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365760"/>
            <a:ext cx="9372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5760"/>
            <a:ext cx="1284732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solidFill>
            <a:srgbClr val="D9A02B"/>
          </a:solidFill>
          <a:ln w="12700">
            <a:solidFill>
              <a:srgbClr val="D9A02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question →</a:t>
            </a:r>
            <a:endParaRPr lang="en-US" sz="1100" dirty="0"/>
          </a:p>
        </p:txBody>
      </p:sp>
      <p:pic>
        <p:nvPicPr>
          <p:cNvPr id="10" name="Image 2" descr="preencoded.png">
            <a:hlinkClick r:id="rId6" action="ppaction://hlinksldjump" tooltip="Next question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365760"/>
            <a:ext cx="1805940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2  ·  RESULT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Liked Posts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6675120" y="1463040"/>
            <a:ext cx="0" cy="484632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graphicFrame>
        <p:nvGraphicFramePr>
          <p:cNvPr id="14" name="Chart 0"/>
          <p:cNvGraphicFramePr/>
          <p:nvPr/>
        </p:nvGraphicFramePr>
        <p:xfrm>
          <a:off x="548640" y="1417320"/>
          <a:ext cx="59436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694944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9A0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5400" dirty="0"/>
          </a:p>
        </p:txBody>
      </p:sp>
      <p:sp>
        <p:nvSpPr>
          <p:cNvPr id="16" name="Text 10"/>
          <p:cNvSpPr txBox="1"/>
          <p:nvPr/>
        </p:nvSpPr>
        <p:spPr>
          <a:xfrm>
            <a:off x="694944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likes on the top posts: three posts tie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788920"/>
          <a:ext cx="4663440" cy="158953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 ID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CREATOR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LIKES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howebryan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694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ktaylor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turnermichelle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360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gregory45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jimmy12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6949440" y="4719828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posts tie for the most likes (6 each):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howebryan, ktaylor and turnermichelle.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highest like count is only 6: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engagement per post is light, not concentrated in viral hits.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Among the top five posts no creator repeats: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likes are spread across different users.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E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3 OF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7A84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Countries by Avg. Engagement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the countries with the highest average number of likes per post.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= total likes ÷ distinct posts per country. Ranking by the average (not raw likes) lets small countries compete fairly with larger ones.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u.country,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total_posts,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COUNT(l.like_id)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total_likes,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ROUND(COUNT(l.like_id) /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p.post_id), 2)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avg_likes_per_post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p.user_id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 l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l.post_id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u.country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avg_likes_per_post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solidFill>
            <a:srgbClr val="7A8450"/>
          </a:solidFill>
          <a:ln w="12700">
            <a:solidFill>
              <a:srgbClr val="7A84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result →</a:t>
            </a:r>
            <a:endParaRPr lang="en-US" sz="1100" dirty="0"/>
          </a:p>
        </p:txBody>
      </p:sp>
      <p:pic>
        <p:nvPicPr>
          <p:cNvPr id="14" name="Image 0" descr="preencoded.png">
            <a:hlinkClick r:id="rId3" action="ppaction://hlinksldjump" tooltip="View resul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632204" cy="3108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6035040"/>
            <a:ext cx="1284732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0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E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SQL</a:t>
            </a:r>
            <a:endParaRPr lang="en-US" sz="1100" dirty="0"/>
          </a:p>
        </p:txBody>
      </p:sp>
      <p:pic>
        <p:nvPicPr>
          <p:cNvPr id="4" name="Image 0" descr="preencoded.png">
            <a:hlinkClick r:id="rId3" action="ppaction://hlinksldjump" tooltip="← SQ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365760"/>
            <a:ext cx="9372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5760"/>
            <a:ext cx="1284732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solidFill>
            <a:srgbClr val="7A8450"/>
          </a:solidFill>
          <a:ln w="12700">
            <a:solidFill>
              <a:srgbClr val="7A845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question →</a:t>
            </a:r>
            <a:endParaRPr lang="en-US" sz="1100" dirty="0"/>
          </a:p>
        </p:txBody>
      </p:sp>
      <p:pic>
        <p:nvPicPr>
          <p:cNvPr id="10" name="Image 2" descr="preencoded.png">
            <a:hlinkClick r:id="rId6" action="ppaction://hlinksldjump" tooltip="Next question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365760"/>
            <a:ext cx="1805940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3  ·  RESULT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Countries by Avg. Engagement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6675120" y="1463040"/>
            <a:ext cx="0" cy="484632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graphicFrame>
        <p:nvGraphicFramePr>
          <p:cNvPr id="14" name="Chart 0"/>
          <p:cNvGraphicFramePr/>
          <p:nvPr/>
        </p:nvGraphicFramePr>
        <p:xfrm>
          <a:off x="548640" y="1417320"/>
          <a:ext cx="59436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694944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A84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3.0</a:t>
            </a:r>
            <a:endParaRPr lang="en-US" sz="5400" dirty="0"/>
          </a:p>
        </p:txBody>
      </p:sp>
      <p:sp>
        <p:nvSpPr>
          <p:cNvPr id="16" name="Text 10"/>
          <p:cNvSpPr txBox="1"/>
          <p:nvPr/>
        </p:nvSpPr>
        <p:spPr>
          <a:xfrm>
            <a:off x="694944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average likes per post in Mexico, ranked first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788920"/>
          <a:ext cx="4663440" cy="158953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COUNTRY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AVG LIKES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Mexico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3.00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Malta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2.50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Bahrain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2.50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Uzbekistan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2.33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Western Sahara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2.25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7066399" y="47613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Mexico ranks first with 3.0 likes per post,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ahead of Malta and Bahrain (2.5 each).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samples: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top five countries have only 2–4 posts each.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Narrow band: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top 10 sit between 2.0 and 3.0 likes per post.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D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4 OF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6E3B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Trending Hashtags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hashtags that appear in an unusually high number of posts.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post_hashtags bridges posts and hashtags, so counting its rows counts usage. HAVING (not WHERE) filters on the aggregated count.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72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Threshold scaled from &gt;20 to &gt;5: the busiest tag has only 11 posts.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h.tag_name,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COUNT(ph.post_id)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total_posts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hashtags h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post_hashtags ph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h.hashtag_id = ph.hashtag_id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h.tag_name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COUNT(ph.post_id) &gt; 5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total_posts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solidFill>
            <a:srgbClr val="6E3B54"/>
          </a:solidFill>
          <a:ln w="12700">
            <a:solidFill>
              <a:srgbClr val="6E3B5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result →</a:t>
            </a:r>
            <a:endParaRPr lang="en-US" sz="1100" dirty="0"/>
          </a:p>
        </p:txBody>
      </p:sp>
      <p:pic>
        <p:nvPicPr>
          <p:cNvPr id="15" name="Image 0" descr="preencoded.png">
            <a:hlinkClick r:id="rId3" action="ppaction://hlinksldjump" tooltip="View resul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632204" cy="31089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8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6035040"/>
            <a:ext cx="1284732" cy="31089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1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D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SQL</a:t>
            </a:r>
            <a:endParaRPr lang="en-US" sz="1100" dirty="0"/>
          </a:p>
        </p:txBody>
      </p:sp>
      <p:pic>
        <p:nvPicPr>
          <p:cNvPr id="4" name="Image 0" descr="preencoded.png">
            <a:hlinkClick r:id="rId3" action="ppaction://hlinksldjump" tooltip="← SQ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365760"/>
            <a:ext cx="9372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5760"/>
            <a:ext cx="1284732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solidFill>
            <a:srgbClr val="6E3B54"/>
          </a:solidFill>
          <a:ln w="12700">
            <a:solidFill>
              <a:srgbClr val="6E3B5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question →</a:t>
            </a:r>
            <a:endParaRPr lang="en-US" sz="1100" dirty="0"/>
          </a:p>
        </p:txBody>
      </p:sp>
      <p:pic>
        <p:nvPicPr>
          <p:cNvPr id="10" name="Image 2" descr="preencoded.png">
            <a:hlinkClick r:id="rId6" action="ppaction://hlinksldjump" tooltip="Next question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365760"/>
            <a:ext cx="1805940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4  ·  RESULT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Trending Hashtags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6675120" y="1463040"/>
            <a:ext cx="0" cy="484632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graphicFrame>
        <p:nvGraphicFramePr>
          <p:cNvPr id="14" name="Chart 0"/>
          <p:cNvGraphicFramePr/>
          <p:nvPr/>
        </p:nvGraphicFramePr>
        <p:xfrm>
          <a:off x="548640" y="1417320"/>
          <a:ext cx="59436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694944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6E3B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5400" dirty="0"/>
          </a:p>
        </p:txBody>
      </p:sp>
      <p:sp>
        <p:nvSpPr>
          <p:cNvPr id="16" name="Text 10"/>
          <p:cNvSpPr txBox="1"/>
          <p:nvPr/>
        </p:nvSpPr>
        <p:spPr>
          <a:xfrm>
            <a:off x="694944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posts use #year, the most-used hashtag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697480"/>
          <a:ext cx="4663440" cy="2362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HASHTAG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#year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#so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#population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#identify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#law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#history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#worker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#what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6949440" y="5280660"/>
            <a:ext cx="46634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#year is the most-used hashtag, </a:t>
            </a:r>
            <a:r>
              <a:rPr lang="en-US" sz="11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11 posts.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hashtag reaches the brief’s original "&gt;20 posts" bar: </a:t>
            </a:r>
            <a:r>
              <a:rPr lang="en-US" sz="11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1,000-post sample is too small.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Usage tapers gently (11 → 6): </a:t>
            </a:r>
            <a:r>
              <a:rPr lang="en-US" sz="11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single hashtag dominates.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CE1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5 OF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3F7D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Influencers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the users with the highest follower count.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followers.user_id is the account being followed, so counting follower rows per user gives each user’s follower count.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 u.username, u.country,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COUNT(f.follower_id)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follower_count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f.user_id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 u.username, u.country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follower_count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solidFill>
            <a:srgbClr val="3F7D6B"/>
          </a:solidFill>
          <a:ln w="12700">
            <a:solidFill>
              <a:srgbClr val="3F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result →</a:t>
            </a:r>
            <a:endParaRPr lang="en-US" sz="1100" dirty="0"/>
          </a:p>
        </p:txBody>
      </p:sp>
      <p:pic>
        <p:nvPicPr>
          <p:cNvPr id="14" name="Image 0" descr="preencoded.png">
            <a:hlinkClick r:id="rId3" action="ppaction://hlinksldjump" tooltip="View resul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632204" cy="3108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6035040"/>
            <a:ext cx="1284732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0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CE1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SQL</a:t>
            </a:r>
            <a:endParaRPr lang="en-US" sz="1100" dirty="0"/>
          </a:p>
        </p:txBody>
      </p:sp>
      <p:pic>
        <p:nvPicPr>
          <p:cNvPr id="4" name="Image 0" descr="preencoded.png">
            <a:hlinkClick r:id="rId3" action="ppaction://hlinksldjump" tooltip="← SQ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365760"/>
            <a:ext cx="9372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5760"/>
            <a:ext cx="1284732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solidFill>
            <a:srgbClr val="3F7D6B"/>
          </a:solidFill>
          <a:ln w="12700">
            <a:solidFill>
              <a:srgbClr val="3F7D6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question →</a:t>
            </a:r>
            <a:endParaRPr lang="en-US" sz="1100" dirty="0"/>
          </a:p>
        </p:txBody>
      </p:sp>
      <p:pic>
        <p:nvPicPr>
          <p:cNvPr id="10" name="Image 2" descr="preencoded.png">
            <a:hlinkClick r:id="rId6" action="ppaction://hlinksldjump" tooltip="Next question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365760"/>
            <a:ext cx="1805940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5  ·  RESULT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Influencers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6675120" y="1463040"/>
            <a:ext cx="0" cy="484632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graphicFrame>
        <p:nvGraphicFramePr>
          <p:cNvPr id="14" name="Chart 0"/>
          <p:cNvGraphicFramePr/>
          <p:nvPr/>
        </p:nvGraphicFramePr>
        <p:xfrm>
          <a:off x="548640" y="1417320"/>
          <a:ext cx="59436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694944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F7D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5400" dirty="0"/>
          </a:p>
        </p:txBody>
      </p:sp>
      <p:sp>
        <p:nvSpPr>
          <p:cNvPr id="16" name="Text 10"/>
          <p:cNvSpPr txBox="1"/>
          <p:nvPr/>
        </p:nvSpPr>
        <p:spPr>
          <a:xfrm>
            <a:off x="694944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followers for vthomas (Kazakhstan), the top influencer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788920"/>
          <a:ext cx="4663440" cy="158953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COUNTRY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FOLLOWERS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vthomas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Kazakhstan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christy26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Botswana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corey63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Gambia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taylorcynthia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Montserrat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jamiegreen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Fiji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6949440" y="47677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vthomas (Kazakhstan) has the most followers, 6,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ahead of christy26 and corey63 (5 each).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top five come from five different countries: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Kazakhstan, Botswana, Gambia, Montserrat, Fiji.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are small and close (4–6):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influence here is relative, not driven by mega-accounts.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DF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6 OF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D27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Followers Who Never Interacted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users who follow others but have never liked or commented on any post.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follower_user_id is the person following. The two NOT IN subqueries exclude anyone in likes or comments. DISTINCT stops a user who follows several accounts being listed twice.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 u.username, u.country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f.follower_user_id = u.user_id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f.follower_user_id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f.follower_user_id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solidFill>
            <a:srgbClr val="D2727A"/>
          </a:solidFill>
          <a:ln w="12700">
            <a:solidFill>
              <a:srgbClr val="D272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result →</a:t>
            </a:r>
            <a:endParaRPr lang="en-US" sz="1100" dirty="0"/>
          </a:p>
        </p:txBody>
      </p:sp>
      <p:pic>
        <p:nvPicPr>
          <p:cNvPr id="14" name="Image 0" descr="preencoded.png">
            <a:hlinkClick r:id="rId3" action="ppaction://hlinksldjump" tooltip="View resul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632204" cy="3108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6035040"/>
            <a:ext cx="1284732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0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DF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SQL</a:t>
            </a:r>
            <a:endParaRPr lang="en-US" sz="1100" dirty="0"/>
          </a:p>
        </p:txBody>
      </p:sp>
      <p:pic>
        <p:nvPicPr>
          <p:cNvPr id="4" name="Image 0" descr="preencoded.png">
            <a:hlinkClick r:id="rId3" action="ppaction://hlinksldjump" tooltip="← SQ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365760"/>
            <a:ext cx="9372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5760"/>
            <a:ext cx="1284732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solidFill>
            <a:srgbClr val="D2727A"/>
          </a:solidFill>
          <a:ln w="12700">
            <a:solidFill>
              <a:srgbClr val="D2727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question →</a:t>
            </a:r>
            <a:endParaRPr lang="en-US" sz="1100" dirty="0"/>
          </a:p>
        </p:txBody>
      </p:sp>
      <p:pic>
        <p:nvPicPr>
          <p:cNvPr id="10" name="Image 2" descr="preencoded.png">
            <a:hlinkClick r:id="rId6" action="ppaction://hlinksldjump" tooltip="Next question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365760"/>
            <a:ext cx="1805940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6  ·  RESULT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Followers Who Never Interacted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6675120" y="1463040"/>
            <a:ext cx="0" cy="484632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graphicFrame>
        <p:nvGraphicFramePr>
          <p:cNvPr id="14" name="Chart 0"/>
          <p:cNvGraphicFramePr/>
          <p:nvPr/>
        </p:nvGraphicFramePr>
        <p:xfrm>
          <a:off x="548640" y="146304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2377440" y="3063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13%</a:t>
            </a:r>
            <a:endParaRPr lang="en-US" sz="4000" dirty="0"/>
          </a:p>
        </p:txBody>
      </p:sp>
      <p:sp>
        <p:nvSpPr>
          <p:cNvPr id="16" name="Text 10"/>
          <p:cNvSpPr txBox="1"/>
          <p:nvPr/>
        </p:nvSpPr>
        <p:spPr>
          <a:xfrm>
            <a:off x="1097280" y="55778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D27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  </a:t>
            </a:r>
            <a:r>
              <a:rPr lang="en-US" sz="13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never liked or commented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552  </a:t>
            </a:r>
            <a:r>
              <a:rPr lang="en-US" sz="13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also liked or commented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694944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27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</a:t>
            </a:r>
            <a:endParaRPr lang="en-US" sz="5400" dirty="0"/>
          </a:p>
        </p:txBody>
      </p:sp>
      <p:sp>
        <p:nvSpPr>
          <p:cNvPr id="18" name="Text 12"/>
          <p:cNvSpPr txBox="1"/>
          <p:nvPr/>
        </p:nvSpPr>
        <p:spPr>
          <a:xfrm>
            <a:off x="694944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637 users who follow someone have never liked or commented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788920"/>
          <a:ext cx="4663440" cy="185623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COUNTRY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kendra24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Saudi Arabia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blakejoel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Reunion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dmccormick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Holy See (Vatican City State)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rachel34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United States of America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taylorcynthia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Montserrat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collinsdawn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Liechtenstein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3"/>
          <p:cNvSpPr txBox="1"/>
          <p:nvPr/>
        </p:nvSpPr>
        <p:spPr>
          <a:xfrm>
            <a:off x="6976872" y="4919472"/>
            <a:ext cx="4663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 of 637 (about 13%)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 someone but have never liked or commented.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"silent followers":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network but not driving engagement.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other 552 (87%) follow and engage,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 most following becomes interaction.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E0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7 OF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B576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Hashtags with Highest Engagement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total engagement (likes + comments) generated by posts under each hashtag.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post_hashtags links each tag to its posts; LEFT JOINs pull in all likes and comments. Joining both at once multiplies rows, so COUNT(DISTINCT) avoids double-counting.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h.tag_name,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l.like_id)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total_likes,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total_comments,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l.like_id)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+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total_engagement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hashtags h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post_hashtags ph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h.hashtag_id = ph.hashtag_id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 l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ph.post_id = l.post_id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 c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ph.post_id = c.post_id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h.tag_name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total_engagement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solidFill>
            <a:srgbClr val="B5763A"/>
          </a:solidFill>
          <a:ln w="12700">
            <a:solidFill>
              <a:srgbClr val="B576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result →</a:t>
            </a:r>
            <a:endParaRPr lang="en-US" sz="1100" dirty="0"/>
          </a:p>
        </p:txBody>
      </p:sp>
      <p:pic>
        <p:nvPicPr>
          <p:cNvPr id="14" name="Image 0" descr="preencoded.png">
            <a:hlinkClick r:id="rId3" action="ppaction://hlinksldjump" tooltip="View resul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632204" cy="3108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6035040"/>
            <a:ext cx="1284732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0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E0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SQL</a:t>
            </a:r>
            <a:endParaRPr lang="en-US" sz="1100" dirty="0"/>
          </a:p>
        </p:txBody>
      </p:sp>
      <p:pic>
        <p:nvPicPr>
          <p:cNvPr id="4" name="Image 0" descr="preencoded.png">
            <a:hlinkClick r:id="rId3" action="ppaction://hlinksldjump" tooltip="← SQ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365760"/>
            <a:ext cx="9372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5760"/>
            <a:ext cx="1284732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solidFill>
            <a:srgbClr val="B5763A"/>
          </a:solidFill>
          <a:ln w="12700">
            <a:solidFill>
              <a:srgbClr val="B5763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question →</a:t>
            </a:r>
            <a:endParaRPr lang="en-US" sz="1100" dirty="0"/>
          </a:p>
        </p:txBody>
      </p:sp>
      <p:pic>
        <p:nvPicPr>
          <p:cNvPr id="10" name="Image 2" descr="preencoded.png">
            <a:hlinkClick r:id="rId6" action="ppaction://hlinksldjump" tooltip="Next question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365760"/>
            <a:ext cx="1805940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7  ·  RESULT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Hashtags with Highest Engagement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6675120" y="1463040"/>
            <a:ext cx="0" cy="484632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graphicFrame>
        <p:nvGraphicFramePr>
          <p:cNvPr id="14" name="Chart 0"/>
          <p:cNvGraphicFramePr/>
          <p:nvPr/>
        </p:nvGraphicFramePr>
        <p:xfrm>
          <a:off x="548640" y="1417320"/>
          <a:ext cx="59436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694944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B576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5400" dirty="0"/>
          </a:p>
        </p:txBody>
      </p:sp>
      <p:sp>
        <p:nvSpPr>
          <p:cNvPr id="16" name="Text 10"/>
          <p:cNvSpPr txBox="1"/>
          <p:nvPr/>
        </p:nvSpPr>
        <p:spPr>
          <a:xfrm>
            <a:off x="694944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likes + comments for #year (11 + 12), the top hashtag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788920"/>
          <a:ext cx="4663440" cy="158953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HASHTAG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LIKES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CMTS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#year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#identify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#simply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#population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#worker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6983680" y="4719828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#year leads with 23,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narrowly ahead of #identify (22).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#teach has the most likes in the top 10 (12)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 only 5 comments: it drives likes more than conversation.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#wonder is the reverse: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comments vs 4 likes, so it sparks discussion.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5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8 OF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7A5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Busiest Posting Hours &amp; Days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which hour of day and which weekday see the most posting activity.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posts is needed: created_at holds each post’s timestamp. HOUR() and DAYNAME() extract the bucket; COUNT(*) totals posts per bucket.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C90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Busiest hour of day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HOUR(created_at)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post_hour,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total_posts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post_hour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post_hour;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C90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Busiest day of week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DAYNAME(created_at)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day_of_week,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total_posts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day_of_week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total_posts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solidFill>
            <a:srgbClr val="7A5C8E"/>
          </a:solidFill>
          <a:ln w="12700">
            <a:solidFill>
              <a:srgbClr val="7A5C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result →</a:t>
            </a:r>
            <a:endParaRPr lang="en-US" sz="1100" dirty="0"/>
          </a:p>
        </p:txBody>
      </p:sp>
      <p:pic>
        <p:nvPicPr>
          <p:cNvPr id="14" name="Image 0" descr="preencoded.png">
            <a:hlinkClick r:id="rId3" action="ppaction://hlinksldjump" tooltip="View resul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632204" cy="3108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6035040"/>
            <a:ext cx="1284732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0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5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SQL</a:t>
            </a:r>
            <a:endParaRPr lang="en-US" sz="1100" dirty="0"/>
          </a:p>
        </p:txBody>
      </p:sp>
      <p:pic>
        <p:nvPicPr>
          <p:cNvPr id="4" name="Image 0" descr="preencoded.png">
            <a:hlinkClick r:id="rId3" action="ppaction://hlinksldjump" tooltip="← SQ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365760"/>
            <a:ext cx="9372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5760"/>
            <a:ext cx="1284732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solidFill>
            <a:srgbClr val="7A5C8E"/>
          </a:solidFill>
          <a:ln w="12700">
            <a:solidFill>
              <a:srgbClr val="7A5C8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question →</a:t>
            </a:r>
            <a:endParaRPr lang="en-US" sz="1100" dirty="0"/>
          </a:p>
        </p:txBody>
      </p:sp>
      <p:pic>
        <p:nvPicPr>
          <p:cNvPr id="10" name="Image 2" descr="preencoded.png">
            <a:hlinkClick r:id="rId6" action="ppaction://hlinksldjump" tooltip="Next question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365760"/>
            <a:ext cx="1805940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8  ·  RESULT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Busiest Posting Hours &amp; Days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6675120" y="1463040"/>
            <a:ext cx="0" cy="484632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graphicFrame>
        <p:nvGraphicFramePr>
          <p:cNvPr id="14" name="Chart 0"/>
          <p:cNvGraphicFramePr/>
          <p:nvPr/>
        </p:nvGraphicFramePr>
        <p:xfrm>
          <a:off x="548640" y="1417320"/>
          <a:ext cx="60350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" name="Chart 1"/>
          <p:cNvGraphicFramePr/>
          <p:nvPr/>
        </p:nvGraphicFramePr>
        <p:xfrm>
          <a:off x="548640" y="3886200"/>
          <a:ext cx="60350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" name="Text 9"/>
          <p:cNvSpPr txBox="1"/>
          <p:nvPr/>
        </p:nvSpPr>
        <p:spPr>
          <a:xfrm>
            <a:off x="694944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A5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AM</a:t>
            </a:r>
            <a:endParaRPr lang="en-US" sz="5400" dirty="0"/>
          </a:p>
        </p:txBody>
      </p:sp>
      <p:sp>
        <p:nvSpPr>
          <p:cNvPr id="17" name="Text 10"/>
          <p:cNvSpPr txBox="1"/>
          <p:nvPr/>
        </p:nvSpPr>
        <p:spPr>
          <a:xfrm>
            <a:off x="694944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busiest posting hour: 54 posts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788920"/>
          <a:ext cx="4663440" cy="158953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05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1"/>
          <p:cNvSpPr txBox="1"/>
          <p:nvPr/>
        </p:nvSpPr>
        <p:spPr>
          <a:xfrm>
            <a:off x="6949440" y="4734714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AM is the busiest hour (54);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AM (53) and 10 PM (52) follow.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Tuesday is the busiest day (153),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 ahead of Saturday (151).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Sunday is quietest (132),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14% below Tuesday.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1E3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9 OF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5F8A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Inactive Users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users who have never posted, liked, or commented.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NOT IN subquery removes users who appear in that activity table. Combining all three with AND keeps only users absent from every one. No JOIN is needed.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 u.username,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u.country, u.join_date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solidFill>
            <a:srgbClr val="5F8A8B"/>
          </a:solidFill>
          <a:ln w="12700">
            <a:solidFill>
              <a:srgbClr val="5F8A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result →</a:t>
            </a:r>
            <a:endParaRPr lang="en-US" sz="1100" dirty="0"/>
          </a:p>
        </p:txBody>
      </p:sp>
      <p:pic>
        <p:nvPicPr>
          <p:cNvPr id="14" name="Image 0" descr="preencoded.png">
            <a:hlinkClick r:id="rId3" action="ppaction://hlinksldjump" tooltip="View resul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632204" cy="3108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6035040"/>
            <a:ext cx="1284732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0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1E3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SQL</a:t>
            </a:r>
            <a:endParaRPr lang="en-US" sz="1100" dirty="0"/>
          </a:p>
        </p:txBody>
      </p:sp>
      <p:pic>
        <p:nvPicPr>
          <p:cNvPr id="4" name="Image 0" descr="preencoded.png">
            <a:hlinkClick r:id="rId3" action="ppaction://hlinksldjump" tooltip="← SQ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365760"/>
            <a:ext cx="9372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5760"/>
            <a:ext cx="1284732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solidFill>
            <a:srgbClr val="5F8A8B"/>
          </a:solidFill>
          <a:ln w="12700">
            <a:solidFill>
              <a:srgbClr val="5F8A8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question →</a:t>
            </a:r>
            <a:endParaRPr lang="en-US" sz="1100" dirty="0"/>
          </a:p>
        </p:txBody>
      </p:sp>
      <p:pic>
        <p:nvPicPr>
          <p:cNvPr id="10" name="Image 2" descr="preencoded.png">
            <a:hlinkClick r:id="rId6" action="ppaction://hlinksldjump" tooltip="Next question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365760"/>
            <a:ext cx="1805940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9  ·  RESULT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Inactive Users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6675120" y="1463040"/>
            <a:ext cx="0" cy="484632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graphicFrame>
        <p:nvGraphicFramePr>
          <p:cNvPr id="14" name="Chart 0"/>
          <p:cNvGraphicFramePr/>
          <p:nvPr/>
        </p:nvGraphicFramePr>
        <p:xfrm>
          <a:off x="548640" y="146304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2377440" y="3063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4.7%</a:t>
            </a:r>
            <a:endParaRPr lang="en-US" sz="4000" dirty="0"/>
          </a:p>
        </p:txBody>
      </p:sp>
      <p:sp>
        <p:nvSpPr>
          <p:cNvPr id="16" name="Text 10"/>
          <p:cNvSpPr txBox="1"/>
          <p:nvPr/>
        </p:nvSpPr>
        <p:spPr>
          <a:xfrm>
            <a:off x="1097280" y="55778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5F8A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47  </a:t>
            </a:r>
            <a:r>
              <a:rPr lang="en-US" sz="13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with zero posts, likes or comments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953  </a:t>
            </a:r>
            <a:r>
              <a:rPr lang="en-US" sz="13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with some activity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694944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5F8A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47</a:t>
            </a:r>
            <a:endParaRPr lang="en-US" sz="5400" dirty="0"/>
          </a:p>
        </p:txBody>
      </p:sp>
      <p:sp>
        <p:nvSpPr>
          <p:cNvPr id="18" name="Text 12"/>
          <p:cNvSpPr txBox="1"/>
          <p:nvPr/>
        </p:nvSpPr>
        <p:spPr>
          <a:xfrm>
            <a:off x="694944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1,000 registered users have never posted, liked, or commented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788920"/>
          <a:ext cx="4663440" cy="184708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COUNTRY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JOINED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blakejoel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Reunion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2025-09-01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dmccormick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Holy See (Vatican City State)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2022-02-26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rachel34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United States of America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2022-03-28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fbarnes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Lesotho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2021-01-09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jamesjohnston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Oman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2021-11-17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david55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Lithuania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2024-04-10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3"/>
          <p:cNvSpPr txBox="1"/>
          <p:nvPr/>
        </p:nvSpPr>
        <p:spPr>
          <a:xfrm>
            <a:off x="6949440" y="4718304"/>
            <a:ext cx="466344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47 of 1,000 users (4.7%)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have no posts, likes or comments.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six sample accounts span six countries and join dates from 2021 to 2025,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 inactivity is not tied to one signup period.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95% of accounts (953)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 at least some activity.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D9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10 OF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B842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Countries by Influencers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the countries with the highest number of followed users (influencers).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influencer is any user with at least one follower (appears as user_id in followers). COUNT(DISTINCT user_id) counts each influencer once per country.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u.country,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influencer_count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f.user_id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u.country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influencer_count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solidFill>
            <a:srgbClr val="B8425A"/>
          </a:solidFill>
          <a:ln w="12700">
            <a:solidFill>
              <a:srgbClr val="B842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6035040"/>
            <a:ext cx="1632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result →</a:t>
            </a:r>
            <a:endParaRPr lang="en-US" sz="1100" dirty="0"/>
          </a:p>
        </p:txBody>
      </p:sp>
      <p:pic>
        <p:nvPicPr>
          <p:cNvPr id="14" name="Image 0" descr="preencoded.png">
            <a:hlinkClick r:id="rId3" action="ppaction://hlinksldjump" tooltip="View resul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632204" cy="3108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95644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6035040"/>
            <a:ext cx="1284732" cy="310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71816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0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D9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29500" y="365760"/>
            <a:ext cx="937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SQL</a:t>
            </a:r>
            <a:endParaRPr lang="en-US" sz="1100" dirty="0"/>
          </a:p>
        </p:txBody>
      </p:sp>
      <p:pic>
        <p:nvPicPr>
          <p:cNvPr id="4" name="Image 0" descr="preencoded.png">
            <a:hlinkClick r:id="rId3" action="ppaction://hlinksldjump" tooltip="← SQ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365760"/>
            <a:ext cx="937260" cy="310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7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65760"/>
            <a:ext cx="1284732" cy="310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solidFill>
            <a:srgbClr val="B8425A"/>
          </a:solidFill>
          <a:ln w="12700">
            <a:solidFill>
              <a:srgbClr val="B8425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834372" y="365760"/>
            <a:ext cx="1805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question →</a:t>
            </a:r>
            <a:endParaRPr lang="en-US" sz="1100" dirty="0"/>
          </a:p>
        </p:txBody>
      </p:sp>
      <p:pic>
        <p:nvPicPr>
          <p:cNvPr id="10" name="Image 2" descr="preencoded.png">
            <a:hlinkClick r:id="rId6" action="ppaction://hlinksldjump" tooltip="Next question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2" y="365760"/>
            <a:ext cx="1805940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10  ·  RESULT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Countries by Influencers</a:t>
            </a:r>
            <a:endParaRPr lang="en-US" sz="3000" dirty="0"/>
          </a:p>
        </p:txBody>
      </p:sp>
      <p:sp>
        <p:nvSpPr>
          <p:cNvPr id="13" name="Shape 8"/>
          <p:cNvSpPr/>
          <p:nvPr/>
        </p:nvSpPr>
        <p:spPr>
          <a:xfrm>
            <a:off x="6675120" y="1463040"/>
            <a:ext cx="0" cy="484632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graphicFrame>
        <p:nvGraphicFramePr>
          <p:cNvPr id="14" name="Chart 0"/>
          <p:cNvGraphicFramePr/>
          <p:nvPr/>
        </p:nvGraphicFramePr>
        <p:xfrm>
          <a:off x="548640" y="1417320"/>
          <a:ext cx="59436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6949440" y="1371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B842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5400" dirty="0"/>
          </a:p>
        </p:txBody>
      </p:sp>
      <p:sp>
        <p:nvSpPr>
          <p:cNvPr id="16" name="Text 10"/>
          <p:cNvSpPr txBox="1"/>
          <p:nvPr/>
        </p:nvSpPr>
        <p:spPr>
          <a:xfrm>
            <a:off x="6949440" y="22402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influencers in Gambia, the top country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788920"/>
          <a:ext cx="4663440" cy="158953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COUNTRY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D726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INFLUENCERS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Gambia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B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French Polynesia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Spain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Iraq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Burkina Faso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6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6949440" y="45262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Gambia leads with 9 influencers,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ahead of French Polynesia (8).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top 10 countries come from all over the world: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country stands far ahead.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taper gradually (9 → 5): </a:t>
            </a:r>
            <a:r>
              <a:rPr lang="en-US" sz="12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influence is spread across many countries.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DD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BONUS QUESTION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C462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Engagement Rate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engagement rate = (likes + comments) / posts.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platform-wide ratio. NULLIF avoids division by zero.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COUNT(*)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COUNT(*)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* 1.0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NULLIF((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COUNT(*)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posts), 0)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engagement_rate;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6035040"/>
            <a:ext cx="1024128" cy="310896"/>
          </a:xfrm>
          <a:prstGeom prst="rect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603504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→</a:t>
            </a:r>
            <a:endParaRPr lang="en-US" sz="1100" dirty="0"/>
          </a:p>
        </p:txBody>
      </p:sp>
      <p:pic>
        <p:nvPicPr>
          <p:cNvPr id="15" name="Image 0" descr="preencoded.png">
            <a:hlinkClick r:id="rId3" action="ppaction://hlinksldjump" tooltip="Nex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024128" cy="31089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687568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87568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8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6035040"/>
            <a:ext cx="1284732" cy="31089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063740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063740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1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5E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BONUS QUESTION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7A84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Mutual Followers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mutual followers.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self-join finds pairs where A follows B and B follows A; user_id &lt; follower_user_id lists each pair once.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9C90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Mutual followers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f1.user_id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user_a,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f1.follower_user_id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user_b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f1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f2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f1.user_id = f2.follower_user_id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f1.follower_user_id = f2.user_id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2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f1.user_id &lt; f1.follower_user_id;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6035040"/>
            <a:ext cx="1024128" cy="310896"/>
          </a:xfrm>
          <a:prstGeom prst="rect">
            <a:avLst/>
          </a:prstGeom>
          <a:solidFill>
            <a:srgbClr val="7A8450"/>
          </a:solidFill>
          <a:ln w="12700">
            <a:solidFill>
              <a:srgbClr val="7A84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603504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→</a:t>
            </a:r>
            <a:endParaRPr lang="en-US" sz="1100" dirty="0"/>
          </a:p>
        </p:txBody>
      </p:sp>
      <p:pic>
        <p:nvPicPr>
          <p:cNvPr id="15" name="Image 0" descr="preencoded.png">
            <a:hlinkClick r:id="rId3" action="ppaction://hlinksldjump" tooltip="Nex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024128" cy="31089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687568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87568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8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6035040"/>
            <a:ext cx="1284732" cy="31089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063740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063740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1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5DC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BONUS QUESTION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7A5C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B3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Hashtags of Top 5 Influencers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most used hashtags by top 5 influencers.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CTE picks the five most-followed users; their posts are then traced through post_hashtags to hashtags.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C90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Most used hashtags by top 5 influencers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top_influencers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user_id,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COUNT(*)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follower_count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user_id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follower_count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h.tag_name,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usage_count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top_influencers ti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ti.user_id = p.user_id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post_hashtags ph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ph.post_id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hashtags h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ph.hashtag_id = h.hashtag_id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h.hashtag_id, h.tag_name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usage_count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6035040"/>
            <a:ext cx="1024128" cy="310896"/>
          </a:xfrm>
          <a:prstGeom prst="rect">
            <a:avLst/>
          </a:prstGeom>
          <a:solidFill>
            <a:srgbClr val="7A5C8E"/>
          </a:solidFill>
          <a:ln w="12700">
            <a:solidFill>
              <a:srgbClr val="7A5C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603504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→</a:t>
            </a:r>
            <a:endParaRPr lang="en-US" sz="1100" dirty="0"/>
          </a:p>
        </p:txBody>
      </p:sp>
      <p:pic>
        <p:nvPicPr>
          <p:cNvPr id="15" name="Image 0" descr="preencoded.png">
            <a:hlinkClick r:id="rId3" action="ppaction://hlinksldjump" tooltip="Nex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024128" cy="31089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687568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87568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8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6035040"/>
            <a:ext cx="1284732" cy="31089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063740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063740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1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D9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BONUS QUESTION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dirty="0">
                <a:solidFill>
                  <a:srgbClr val="B842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B4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Country Engagement Leaderboard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a country-wise engagement leaderboard.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(not average) engagement per country, complementing Q3. COUNT(DISTINCT) prevents like × comment row multiplication.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548640"/>
            <a:ext cx="7068312" cy="5349240"/>
          </a:xfrm>
          <a:prstGeom prst="rect">
            <a:avLst/>
          </a:prstGeom>
          <a:solidFill>
            <a:srgbClr val="2B2622"/>
          </a:solidFill>
          <a:ln w="12700">
            <a:solidFill>
              <a:srgbClr val="2B26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777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998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143000"/>
            <a:ext cx="64282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u.country,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total_posts,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l.like_id)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total_likes,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total_comments,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l.like_id)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COUNT(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engagement_score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p.user_id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 l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l.post_id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 c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c.post_id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u.country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engagement_score </a:t>
            </a:r>
            <a:r>
              <a:rPr lang="en-US" sz="1100" b="1" dirty="0">
                <a:solidFill>
                  <a:srgbClr val="D9A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100" dirty="0">
                <a:solidFill>
                  <a:srgbClr val="EDE6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6035040"/>
            <a:ext cx="1024128" cy="310896"/>
          </a:xfrm>
          <a:prstGeom prst="rect">
            <a:avLst/>
          </a:prstGeom>
          <a:solidFill>
            <a:srgbClr val="B8425A"/>
          </a:solidFill>
          <a:ln w="12700">
            <a:solidFill>
              <a:srgbClr val="B842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603504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→</a:t>
            </a:r>
            <a:endParaRPr lang="en-US" sz="1100" dirty="0"/>
          </a:p>
        </p:txBody>
      </p:sp>
      <p:pic>
        <p:nvPicPr>
          <p:cNvPr id="15" name="Image 0" descr="preencoded.png">
            <a:hlinkClick r:id="rId3" action="ppaction://hlinksldjump" tooltip="Next →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035040"/>
            <a:ext cx="1024128" cy="31089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687568" y="6035040"/>
            <a:ext cx="1284732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87568" y="603504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8" name="Image 1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6035040"/>
            <a:ext cx="1284732" cy="31089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063740" y="6035040"/>
            <a:ext cx="1371600" cy="310896"/>
          </a:xfrm>
          <a:prstGeom prst="rect">
            <a:avLst/>
          </a:prstGeom>
          <a:noFill/>
          <a:ln w="12700">
            <a:solidFill>
              <a:srgbClr val="2B262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063740" y="6035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Previous</a:t>
            </a:r>
            <a:endParaRPr lang="en-US" sz="1100" dirty="0"/>
          </a:p>
        </p:txBody>
      </p:sp>
      <p:pic>
        <p:nvPicPr>
          <p:cNvPr id="21" name="Image 2" descr="preencoded.png">
            <a:hlinkClick r:id="rId6" action="ppaction://hlinksldjump" tooltip="← Previou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6035040"/>
            <a:ext cx="1371600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INSIGHTS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data shows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240280"/>
          </a:xfrm>
          <a:prstGeom prst="rect">
            <a:avLst/>
          </a:prstGeom>
          <a:solidFill>
            <a:srgbClr val="C4623F"/>
          </a:solidFill>
          <a:ln w="12700">
            <a:solidFill>
              <a:srgbClr val="C462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Highest combined activity for one user (whitney74). Top users cluster at 6–9 actions.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01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 the analysis →</a:t>
            </a:r>
            <a:endParaRPr lang="en-US" sz="1100" dirty="0"/>
          </a:p>
        </p:txBody>
      </p:sp>
      <p:pic>
        <p:nvPicPr>
          <p:cNvPr id="8" name="Image 0" descr="preencoded.png">
            <a:hlinkClick r:id="rId3" action="ppaction://hlinksldjump" tooltip="Open analysi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08760"/>
            <a:ext cx="3611880" cy="2240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97680" y="1508760"/>
            <a:ext cx="3611880" cy="2240280"/>
          </a:xfrm>
          <a:prstGeom prst="rect">
            <a:avLst/>
          </a:prstGeom>
          <a:solidFill>
            <a:srgbClr val="D9A02B"/>
          </a:solidFill>
          <a:ln w="12700">
            <a:solidFill>
              <a:srgbClr val="D9A0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1645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2606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likes on any single post. Engagement is spread thin, not viral.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3401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 the analysis →</a:t>
            </a:r>
            <a:endParaRPr lang="en-US" sz="1100" dirty="0"/>
          </a:p>
        </p:txBody>
      </p:sp>
      <p:pic>
        <p:nvPicPr>
          <p:cNvPr id="13" name="Image 1" descr="preencoded.png">
            <a:hlinkClick r:id="rId5" action="ppaction://hlinksldjump" tooltip="Open analysi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508760"/>
            <a:ext cx="3611880" cy="22402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0" y="1508760"/>
            <a:ext cx="3611880" cy="2240280"/>
          </a:xfrm>
          <a:prstGeom prst="rect">
            <a:avLst/>
          </a:prstGeom>
          <a:solidFill>
            <a:srgbClr val="6E3B54"/>
          </a:solidFill>
          <a:ln w="12700">
            <a:solidFill>
              <a:srgbClr val="6E3B5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75320" y="1645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5400" dirty="0"/>
          </a:p>
        </p:txBody>
      </p:sp>
      <p:sp>
        <p:nvSpPr>
          <p:cNvPr id="16" name="Text 12"/>
          <p:cNvSpPr txBox="1"/>
          <p:nvPr/>
        </p:nvSpPr>
        <p:spPr>
          <a:xfrm>
            <a:off x="8275320" y="26060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Posts for the busiest hashtag (#year), well short of the brief’s 20-post bar.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275320" y="3401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 the analysis →</a:t>
            </a:r>
            <a:endParaRPr lang="en-US" sz="1100" dirty="0"/>
          </a:p>
        </p:txBody>
      </p:sp>
      <p:pic>
        <p:nvPicPr>
          <p:cNvPr id="18" name="Image 2" descr="preencoded.png">
            <a:hlinkClick r:id="rId6" action="ppaction://hlinksldjump" tooltip="Open analysi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08760"/>
            <a:ext cx="3611880" cy="22402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" y="3886200"/>
            <a:ext cx="3611880" cy="2240280"/>
          </a:xfrm>
          <a:prstGeom prst="rect">
            <a:avLst/>
          </a:prstGeom>
          <a:solidFill>
            <a:srgbClr val="D2727A"/>
          </a:solidFill>
          <a:ln w="12700">
            <a:solidFill>
              <a:srgbClr val="D2727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4023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13%</a:t>
            </a:r>
            <a:endParaRPr lang="en-US" sz="54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4983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users who follow someone (85 of 637) have never liked or commented.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5779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 the analysis →</a:t>
            </a:r>
            <a:endParaRPr lang="en-US" sz="1100" dirty="0"/>
          </a:p>
        </p:txBody>
      </p:sp>
      <p:pic>
        <p:nvPicPr>
          <p:cNvPr id="23" name="Image 3" descr="preencoded.png">
            <a:hlinkClick r:id="rId7" action="ppaction://hlinksldjump" tooltip="Open analysi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86200"/>
            <a:ext cx="3611880" cy="22402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297680" y="3886200"/>
            <a:ext cx="3611880" cy="2240280"/>
          </a:xfrm>
          <a:prstGeom prst="rect">
            <a:avLst/>
          </a:prstGeom>
          <a:solidFill>
            <a:srgbClr val="5F8A8B"/>
          </a:solidFill>
          <a:ln w="12700">
            <a:solidFill>
              <a:srgbClr val="5F8A8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526280" y="4023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4.7%</a:t>
            </a:r>
            <a:endParaRPr lang="en-US" sz="5400" dirty="0"/>
          </a:p>
        </p:txBody>
      </p:sp>
      <p:sp>
        <p:nvSpPr>
          <p:cNvPr id="26" name="Text 20"/>
          <p:cNvSpPr txBox="1"/>
          <p:nvPr/>
        </p:nvSpPr>
        <p:spPr>
          <a:xfrm>
            <a:off x="4526280" y="4983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users (47 of 1,000) show no posts, likes or comments.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4526280" y="5779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 the analysis →</a:t>
            </a:r>
            <a:endParaRPr lang="en-US" sz="1100" dirty="0"/>
          </a:p>
        </p:txBody>
      </p:sp>
      <p:pic>
        <p:nvPicPr>
          <p:cNvPr id="28" name="Image 4" descr="preencoded.png">
            <a:hlinkClick r:id="rId8" action="ppaction://hlinksldjump" tooltip="Open analysi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3886200"/>
            <a:ext cx="3611880" cy="224028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046720" y="3886200"/>
            <a:ext cx="3611880" cy="2240280"/>
          </a:xfrm>
          <a:prstGeom prst="rect">
            <a:avLst/>
          </a:prstGeom>
          <a:solidFill>
            <a:srgbClr val="7A5C8E"/>
          </a:solidFill>
          <a:ln w="12700">
            <a:solidFill>
              <a:srgbClr val="7A5C8E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275320" y="4023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AM</a:t>
            </a:r>
            <a:endParaRPr lang="en-US" sz="5400" dirty="0"/>
          </a:p>
        </p:txBody>
      </p:sp>
      <p:sp>
        <p:nvSpPr>
          <p:cNvPr id="31" name="Text 24"/>
          <p:cNvSpPr txBox="1"/>
          <p:nvPr/>
        </p:nvSpPr>
        <p:spPr>
          <a:xfrm>
            <a:off x="8275320" y="4983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Busiest hour (54 posts); Tuesday is the busiest day (153 posts).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8275320" y="5779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 the analysis →</a:t>
            </a:r>
            <a:endParaRPr lang="en-US" sz="1100" dirty="0"/>
          </a:p>
        </p:txBody>
      </p:sp>
      <p:pic>
        <p:nvPicPr>
          <p:cNvPr id="33" name="Image 5" descr="preencoded.png">
            <a:hlinkClick r:id="rId9" action="ppaction://hlinksldjump" tooltip="Open analysi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886200"/>
            <a:ext cx="3611880" cy="2240280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D7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SQL revealed about the platform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C462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459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is broad, not concentrated.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single "super user" dominates posting or commenting, and almost every account (95%) shows some activity.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651760"/>
            <a:ext cx="10241280" cy="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77063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7A84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16352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Engagement per post is modest.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most-liked post has 6 likes, and no hashtag reaches the 20-post "trending" bar on a 1,000-post sample.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71600" y="3822192"/>
            <a:ext cx="10241280" cy="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941064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3F7D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986784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Following is not interacting.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13% of users who follow someone have never liked or commented.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4992624"/>
            <a:ext cx="10241280" cy="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111496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B576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157216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has a pattern.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AM is the busiest hour and Tuesday the busiest day, though the gaps between hours and days are small.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6163056"/>
            <a:ext cx="10241280" cy="0"/>
          </a:xfrm>
          <a:prstGeom prst="line">
            <a:avLst/>
          </a:prstGeom>
          <a:noFill/>
          <a:ln w="9525">
            <a:solidFill>
              <a:srgbClr val="DDD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55580" y="365760"/>
            <a:ext cx="1284732" cy="310896"/>
          </a:xfrm>
          <a:prstGeom prst="rect">
            <a:avLst/>
          </a:prstGeom>
          <a:solidFill>
            <a:srgbClr val="B8425A"/>
          </a:solidFill>
          <a:ln w="12700">
            <a:solidFill>
              <a:srgbClr val="B842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55580" y="365760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18" name="Image 0" descr="preencoded.png">
            <a:hlinkClick r:id="rId3" action="ppaction://hlinksldjump" tooltip="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80" y="365760"/>
            <a:ext cx="1284732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2B26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65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Media Analytics  ·  SQL Data Analytics Project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572000"/>
            <a:ext cx="1979676" cy="310896"/>
          </a:xfrm>
          <a:prstGeom prst="rect">
            <a:avLst/>
          </a:prstGeom>
          <a:solidFill>
            <a:srgbClr val="B8425A"/>
          </a:solidFill>
          <a:ln w="12700">
            <a:solidFill>
              <a:srgbClr val="B842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572000"/>
            <a:ext cx="1979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 to dashboard</a:t>
            </a:r>
            <a:endParaRPr lang="en-US" sz="1100" dirty="0"/>
          </a:p>
        </p:txBody>
      </p:sp>
      <p:pic>
        <p:nvPicPr>
          <p:cNvPr id="6" name="Image 0" descr="preencoded.png">
            <a:hlinkClick r:id="rId3" action="ppaction://hlinksldjump" tooltip="Back to dashboar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0"/>
            <a:ext cx="197967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72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3992</Words>
  <Application>Microsoft Macintosh PowerPoint</Application>
  <PresentationFormat>Widescreen</PresentationFormat>
  <Paragraphs>817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Hetvi Jain</cp:lastModifiedBy>
  <cp:revision>3</cp:revision>
  <dcterms:created xsi:type="dcterms:W3CDTF">2026-09-29T06:43:28Z</dcterms:created>
  <dcterms:modified xsi:type="dcterms:W3CDTF">2026-09-29T07:20:10Z</dcterms:modified>
</cp:coreProperties>
</file>